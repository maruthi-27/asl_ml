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x="18288000" cy="10287000"/>
  <p:notesSz cx="6858000" cy="9144000"/>
  <p:embeddedFontLst>
    <p:embeddedFont>
      <p:font typeface="Times New Roman MT Bold" charset="1" panose="02030802070405020303"/>
      <p:regular r:id="rId22"/>
    </p:embeddedFont>
    <p:embeddedFont>
      <p:font typeface="Times New Roman MT" charset="1" panose="02030502070405020303"/>
      <p:regular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fonts/font22.fntdata" Type="http://schemas.openxmlformats.org/officeDocument/2006/relationships/font"/><Relationship Id="rId23" Target="fonts/font23.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1031689" y="-652791"/>
            <a:ext cx="8044162" cy="10115539"/>
          </a:xfrm>
          <a:custGeom>
            <a:avLst/>
            <a:gdLst/>
            <a:ahLst/>
            <a:cxnLst/>
            <a:rect r="r" b="b" t="t" l="l"/>
            <a:pathLst>
              <a:path h="10115539" w="8044162">
                <a:moveTo>
                  <a:pt x="0" y="0"/>
                </a:moveTo>
                <a:lnTo>
                  <a:pt x="8044162" y="0"/>
                </a:lnTo>
                <a:lnTo>
                  <a:pt x="8044162" y="10115539"/>
                </a:lnTo>
                <a:lnTo>
                  <a:pt x="0" y="10115539"/>
                </a:lnTo>
                <a:lnTo>
                  <a:pt x="0" y="0"/>
                </a:lnTo>
                <a:close/>
              </a:path>
            </a:pathLst>
          </a:custGeom>
          <a:blipFill>
            <a:blip r:embed="rId2"/>
            <a:stretch>
              <a:fillRect l="-73130" t="-17935" r="-65612" b="-16305"/>
            </a:stretch>
          </a:blipFill>
        </p:spPr>
      </p:sp>
      <p:sp>
        <p:nvSpPr>
          <p:cNvPr name="Freeform 3" id="3"/>
          <p:cNvSpPr/>
          <p:nvPr/>
        </p:nvSpPr>
        <p:spPr>
          <a:xfrm flipH="false" flipV="false" rot="0">
            <a:off x="0" y="-53053"/>
            <a:ext cx="4375810" cy="2163506"/>
          </a:xfrm>
          <a:custGeom>
            <a:avLst/>
            <a:gdLst/>
            <a:ahLst/>
            <a:cxnLst/>
            <a:rect r="r" b="b" t="t" l="l"/>
            <a:pathLst>
              <a:path h="2163506" w="4375810">
                <a:moveTo>
                  <a:pt x="0" y="0"/>
                </a:moveTo>
                <a:lnTo>
                  <a:pt x="4375810" y="0"/>
                </a:lnTo>
                <a:lnTo>
                  <a:pt x="4375810" y="2163506"/>
                </a:lnTo>
                <a:lnTo>
                  <a:pt x="0" y="2163506"/>
                </a:lnTo>
                <a:lnTo>
                  <a:pt x="0" y="0"/>
                </a:lnTo>
                <a:close/>
              </a:path>
            </a:pathLst>
          </a:custGeom>
          <a:blipFill>
            <a:blip r:embed="rId3"/>
            <a:stretch>
              <a:fillRect l="-39406" t="-92630" r="-52138" b="-98094"/>
            </a:stretch>
          </a:blipFill>
        </p:spPr>
      </p:sp>
      <p:sp>
        <p:nvSpPr>
          <p:cNvPr name="TextBox 4" id="4"/>
          <p:cNvSpPr txBox="true"/>
          <p:nvPr/>
        </p:nvSpPr>
        <p:spPr>
          <a:xfrm rot="0">
            <a:off x="1865030" y="2545531"/>
            <a:ext cx="14557941" cy="2994024"/>
          </a:xfrm>
          <a:prstGeom prst="rect">
            <a:avLst/>
          </a:prstGeom>
        </p:spPr>
        <p:txBody>
          <a:bodyPr anchor="t" rtlCol="false" tIns="0" lIns="0" bIns="0" rIns="0">
            <a:spAutoFit/>
          </a:bodyPr>
          <a:lstStyle/>
          <a:p>
            <a:pPr algn="ctr">
              <a:lnSpc>
                <a:spcPts val="7700"/>
              </a:lnSpc>
            </a:pPr>
            <a:r>
              <a:rPr lang="en-US" sz="5500" b="true">
                <a:solidFill>
                  <a:srgbClr val="000000"/>
                </a:solidFill>
                <a:latin typeface="Times New Roman MT Bold"/>
                <a:ea typeface="Times New Roman MT Bold"/>
                <a:cs typeface="Times New Roman MT Bold"/>
                <a:sym typeface="Times New Roman MT Bold"/>
              </a:rPr>
              <a:t>SIGN LANGUAGE DETECTION </a:t>
            </a:r>
          </a:p>
          <a:p>
            <a:pPr algn="ctr">
              <a:lnSpc>
                <a:spcPts val="7700"/>
              </a:lnSpc>
            </a:pPr>
            <a:r>
              <a:rPr lang="en-US" sz="5500" b="true">
                <a:solidFill>
                  <a:srgbClr val="000000"/>
                </a:solidFill>
                <a:latin typeface="Times New Roman MT Bold"/>
                <a:ea typeface="Times New Roman MT Bold"/>
                <a:cs typeface="Times New Roman MT Bold"/>
                <a:sym typeface="Times New Roman MT Bold"/>
              </a:rPr>
              <a:t>AND</a:t>
            </a:r>
          </a:p>
          <a:p>
            <a:pPr algn="ctr">
              <a:lnSpc>
                <a:spcPts val="7700"/>
              </a:lnSpc>
            </a:pPr>
            <a:r>
              <a:rPr lang="en-US" sz="5500" b="true">
                <a:solidFill>
                  <a:srgbClr val="000000"/>
                </a:solidFill>
                <a:latin typeface="Times New Roman MT Bold"/>
                <a:ea typeface="Times New Roman MT Bold"/>
                <a:cs typeface="Times New Roman MT Bold"/>
                <a:sym typeface="Times New Roman MT Bold"/>
              </a:rPr>
              <a:t> VOICE ASSISTANCE SYSTEM</a:t>
            </a:r>
          </a:p>
        </p:txBody>
      </p:sp>
      <p:sp>
        <p:nvSpPr>
          <p:cNvPr name="TextBox 5" id="5"/>
          <p:cNvSpPr txBox="true"/>
          <p:nvPr/>
        </p:nvSpPr>
        <p:spPr>
          <a:xfrm rot="0">
            <a:off x="5837684" y="6658246"/>
            <a:ext cx="6233285" cy="4229386"/>
          </a:xfrm>
          <a:prstGeom prst="rect">
            <a:avLst/>
          </a:prstGeom>
        </p:spPr>
        <p:txBody>
          <a:bodyPr anchor="t" rtlCol="false" tIns="0" lIns="0" bIns="0" rIns="0">
            <a:spAutoFit/>
          </a:bodyPr>
          <a:lstStyle/>
          <a:p>
            <a:pPr algn="ctr">
              <a:lnSpc>
                <a:spcPts val="6809"/>
              </a:lnSpc>
            </a:pPr>
            <a:r>
              <a:rPr lang="en-US" sz="4863" b="true">
                <a:solidFill>
                  <a:srgbClr val="000000"/>
                </a:solidFill>
                <a:latin typeface="Times New Roman MT Bold"/>
                <a:ea typeface="Times New Roman MT Bold"/>
                <a:cs typeface="Times New Roman MT Bold"/>
                <a:sym typeface="Times New Roman MT Bold"/>
              </a:rPr>
              <a:t>Presented by: </a:t>
            </a:r>
          </a:p>
          <a:p>
            <a:pPr algn="ctr">
              <a:lnSpc>
                <a:spcPts val="4849"/>
              </a:lnSpc>
            </a:pPr>
            <a:r>
              <a:rPr lang="en-US" sz="3463">
                <a:solidFill>
                  <a:srgbClr val="000000"/>
                </a:solidFill>
                <a:latin typeface="Times New Roman MT"/>
                <a:ea typeface="Times New Roman MT"/>
                <a:cs typeface="Times New Roman MT"/>
                <a:sym typeface="Times New Roman MT"/>
              </a:rPr>
              <a:t>Hamza Ali Ahmed</a:t>
            </a:r>
          </a:p>
          <a:p>
            <a:pPr algn="ctr">
              <a:lnSpc>
                <a:spcPts val="4849"/>
              </a:lnSpc>
            </a:pPr>
            <a:r>
              <a:rPr lang="en-US" sz="3463">
                <a:solidFill>
                  <a:srgbClr val="000000"/>
                </a:solidFill>
                <a:latin typeface="Times New Roman MT"/>
                <a:ea typeface="Times New Roman MT"/>
                <a:cs typeface="Times New Roman MT"/>
                <a:sym typeface="Times New Roman MT"/>
              </a:rPr>
              <a:t>Maruthi V Kamath</a:t>
            </a:r>
          </a:p>
          <a:p>
            <a:pPr algn="ctr">
              <a:lnSpc>
                <a:spcPts val="4849"/>
              </a:lnSpc>
            </a:pPr>
            <a:r>
              <a:rPr lang="en-US" sz="3463">
                <a:solidFill>
                  <a:srgbClr val="000000"/>
                </a:solidFill>
                <a:latin typeface="Times New Roman MT"/>
                <a:ea typeface="Times New Roman MT"/>
                <a:cs typeface="Times New Roman MT"/>
                <a:sym typeface="Times New Roman MT"/>
              </a:rPr>
              <a:t>Manjushree M R</a:t>
            </a:r>
          </a:p>
          <a:p>
            <a:pPr algn="ctr">
              <a:lnSpc>
                <a:spcPts val="4849"/>
              </a:lnSpc>
            </a:pPr>
            <a:r>
              <a:rPr lang="en-US" sz="3463">
                <a:solidFill>
                  <a:srgbClr val="000000"/>
                </a:solidFill>
                <a:latin typeface="Times New Roman MT"/>
                <a:ea typeface="Times New Roman MT"/>
                <a:cs typeface="Times New Roman MT"/>
                <a:sym typeface="Times New Roman MT"/>
              </a:rPr>
              <a:t>Prajwal</a:t>
            </a:r>
          </a:p>
          <a:p>
            <a:pPr algn="ctr">
              <a:lnSpc>
                <a:spcPts val="6809"/>
              </a:lnSpc>
            </a:pPr>
          </a:p>
        </p:txBody>
      </p:sp>
      <p:sp>
        <p:nvSpPr>
          <p:cNvPr name="TextBox 6" id="6"/>
          <p:cNvSpPr txBox="true"/>
          <p:nvPr/>
        </p:nvSpPr>
        <p:spPr>
          <a:xfrm rot="0">
            <a:off x="6473213" y="5517342"/>
            <a:ext cx="4962227" cy="740297"/>
          </a:xfrm>
          <a:prstGeom prst="rect">
            <a:avLst/>
          </a:prstGeom>
        </p:spPr>
        <p:txBody>
          <a:bodyPr anchor="t" rtlCol="false" tIns="0" lIns="0" bIns="0" rIns="0">
            <a:spAutoFit/>
          </a:bodyPr>
          <a:lstStyle/>
          <a:p>
            <a:pPr algn="ctr">
              <a:lnSpc>
                <a:spcPts val="5668"/>
              </a:lnSpc>
              <a:spcBef>
                <a:spcPct val="0"/>
              </a:spcBef>
            </a:pPr>
            <a:r>
              <a:rPr lang="en-US" b="true" sz="3456">
                <a:solidFill>
                  <a:srgbClr val="000000"/>
                </a:solidFill>
                <a:latin typeface="Times New Roman MT Bold"/>
                <a:ea typeface="Times New Roman MT Bold"/>
                <a:cs typeface="Times New Roman MT Bold"/>
                <a:sym typeface="Times New Roman MT Bold"/>
              </a:rPr>
              <a:t>Course:</a:t>
            </a:r>
            <a:r>
              <a:rPr lang="en-US" sz="3456">
                <a:solidFill>
                  <a:srgbClr val="000000"/>
                </a:solidFill>
                <a:latin typeface="Times New Roman MT"/>
                <a:ea typeface="Times New Roman MT"/>
                <a:cs typeface="Times New Roman MT"/>
                <a:sym typeface="Times New Roman MT"/>
              </a:rPr>
              <a:t> Machine Learning</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1031689" y="-652791"/>
            <a:ext cx="8044162" cy="10115539"/>
          </a:xfrm>
          <a:custGeom>
            <a:avLst/>
            <a:gdLst/>
            <a:ahLst/>
            <a:cxnLst/>
            <a:rect r="r" b="b" t="t" l="l"/>
            <a:pathLst>
              <a:path h="10115539" w="8044162">
                <a:moveTo>
                  <a:pt x="0" y="0"/>
                </a:moveTo>
                <a:lnTo>
                  <a:pt x="8044162" y="0"/>
                </a:lnTo>
                <a:lnTo>
                  <a:pt x="8044162" y="10115539"/>
                </a:lnTo>
                <a:lnTo>
                  <a:pt x="0" y="10115539"/>
                </a:lnTo>
                <a:lnTo>
                  <a:pt x="0" y="0"/>
                </a:lnTo>
                <a:close/>
              </a:path>
            </a:pathLst>
          </a:custGeom>
          <a:blipFill>
            <a:blip r:embed="rId2"/>
            <a:stretch>
              <a:fillRect l="-73130" t="-17935" r="-65612" b="-16305"/>
            </a:stretch>
          </a:blipFill>
        </p:spPr>
      </p:sp>
      <p:sp>
        <p:nvSpPr>
          <p:cNvPr name="TextBox 3" id="3"/>
          <p:cNvSpPr txBox="true"/>
          <p:nvPr/>
        </p:nvSpPr>
        <p:spPr>
          <a:xfrm rot="0">
            <a:off x="1028700" y="1404651"/>
            <a:ext cx="5848251" cy="1563374"/>
          </a:xfrm>
          <a:prstGeom prst="rect">
            <a:avLst/>
          </a:prstGeom>
        </p:spPr>
        <p:txBody>
          <a:bodyPr anchor="t" rtlCol="false" tIns="0" lIns="0" bIns="0" rIns="0">
            <a:spAutoFit/>
          </a:bodyPr>
          <a:lstStyle/>
          <a:p>
            <a:pPr algn="ctr">
              <a:lnSpc>
                <a:spcPts val="11479"/>
              </a:lnSpc>
            </a:pPr>
            <a:r>
              <a:rPr lang="en-US" sz="8199" b="true">
                <a:solidFill>
                  <a:srgbClr val="000000"/>
                </a:solidFill>
                <a:latin typeface="Times New Roman MT Bold"/>
                <a:ea typeface="Times New Roman MT Bold"/>
                <a:cs typeface="Times New Roman MT Bold"/>
                <a:sym typeface="Times New Roman MT Bold"/>
              </a:rPr>
              <a:t> Introduction</a:t>
            </a:r>
            <a:r>
              <a:rPr lang="en-US" sz="8199" b="true">
                <a:solidFill>
                  <a:srgbClr val="000000"/>
                </a:solidFill>
                <a:latin typeface="Times New Roman MT Bold"/>
                <a:ea typeface="Times New Roman MT Bold"/>
                <a:cs typeface="Times New Roman MT Bold"/>
                <a:sym typeface="Times New Roman MT Bold"/>
              </a:rPr>
              <a:t> </a:t>
            </a:r>
          </a:p>
        </p:txBody>
      </p:sp>
      <p:sp>
        <p:nvSpPr>
          <p:cNvPr name="TextBox 4" id="4"/>
          <p:cNvSpPr txBox="true"/>
          <p:nvPr/>
        </p:nvSpPr>
        <p:spPr>
          <a:xfrm rot="0">
            <a:off x="570766" y="3567855"/>
            <a:ext cx="15819007" cy="6862065"/>
          </a:xfrm>
          <a:prstGeom prst="rect">
            <a:avLst/>
          </a:prstGeom>
        </p:spPr>
        <p:txBody>
          <a:bodyPr anchor="t" rtlCol="false" tIns="0" lIns="0" bIns="0" rIns="0">
            <a:spAutoFit/>
          </a:bodyPr>
          <a:lstStyle/>
          <a:p>
            <a:pPr algn="l" marL="798826" indent="-399413" lvl="1">
              <a:lnSpc>
                <a:spcPts val="6807"/>
              </a:lnSpc>
              <a:buFont typeface="Arial"/>
              <a:buChar char="•"/>
            </a:pPr>
            <a:r>
              <a:rPr lang="en-US" sz="3699">
                <a:solidFill>
                  <a:srgbClr val="000000"/>
                </a:solidFill>
                <a:latin typeface="Times New Roman MT"/>
                <a:ea typeface="Times New Roman MT"/>
                <a:cs typeface="Times New Roman MT"/>
                <a:sym typeface="Times New Roman MT"/>
              </a:rPr>
              <a:t>Communication is difficult for people who cannot speak or see.</a:t>
            </a:r>
          </a:p>
          <a:p>
            <a:pPr algn="l" marL="798826" indent="-399413" lvl="1">
              <a:lnSpc>
                <a:spcPts val="6807"/>
              </a:lnSpc>
              <a:buFont typeface="Arial"/>
              <a:buChar char="•"/>
            </a:pPr>
            <a:r>
              <a:rPr lang="en-US" sz="3699">
                <a:solidFill>
                  <a:srgbClr val="000000"/>
                </a:solidFill>
                <a:latin typeface="Times New Roman MT"/>
                <a:ea typeface="Times New Roman MT"/>
                <a:cs typeface="Times New Roman MT"/>
                <a:sym typeface="Times New Roman MT"/>
              </a:rPr>
              <a:t>Mute individuals use hand signs, but most people do not understand them.</a:t>
            </a:r>
          </a:p>
          <a:p>
            <a:pPr algn="l" marL="798826" indent="-399413" lvl="1">
              <a:lnSpc>
                <a:spcPts val="6807"/>
              </a:lnSpc>
              <a:buFont typeface="Arial"/>
              <a:buChar char="•"/>
            </a:pPr>
            <a:r>
              <a:rPr lang="en-US" sz="3699">
                <a:solidFill>
                  <a:srgbClr val="000000"/>
                </a:solidFill>
                <a:latin typeface="Times New Roman MT"/>
                <a:ea typeface="Times New Roman MT"/>
                <a:cs typeface="Times New Roman MT"/>
                <a:sym typeface="Times New Roman MT"/>
              </a:rPr>
              <a:t>Visually impaired people cannot see hand signs at all.</a:t>
            </a:r>
          </a:p>
          <a:p>
            <a:pPr algn="l" marL="798826" indent="-399413" lvl="1">
              <a:lnSpc>
                <a:spcPts val="6807"/>
              </a:lnSpc>
              <a:buFont typeface="Arial"/>
              <a:buChar char="•"/>
            </a:pPr>
            <a:r>
              <a:rPr lang="en-US" sz="3699">
                <a:solidFill>
                  <a:srgbClr val="000000"/>
                </a:solidFill>
                <a:latin typeface="Times New Roman MT"/>
                <a:ea typeface="Times New Roman MT"/>
                <a:cs typeface="Times New Roman MT"/>
                <a:sym typeface="Times New Roman MT"/>
              </a:rPr>
              <a:t>Our system uses a camera + machine learning model to recognize hand signs.</a:t>
            </a:r>
          </a:p>
          <a:p>
            <a:pPr algn="l" marL="798826" indent="-399413" lvl="1">
              <a:lnSpc>
                <a:spcPts val="6807"/>
              </a:lnSpc>
              <a:buFont typeface="Arial"/>
              <a:buChar char="•"/>
            </a:pPr>
            <a:r>
              <a:rPr lang="en-US" sz="3699">
                <a:solidFill>
                  <a:srgbClr val="000000"/>
                </a:solidFill>
                <a:latin typeface="Times New Roman MT"/>
                <a:ea typeface="Times New Roman MT"/>
                <a:cs typeface="Times New Roman MT"/>
                <a:sym typeface="Times New Roman MT"/>
              </a:rPr>
              <a:t>The output is shown as text and also spoken using Text-to-Speech (TTS)</a:t>
            </a:r>
          </a:p>
          <a:p>
            <a:pPr algn="l">
              <a:lnSpc>
                <a:spcPts val="6807"/>
              </a:lnSpc>
            </a:pPr>
          </a:p>
          <a:p>
            <a:pPr algn="l">
              <a:lnSpc>
                <a:spcPts val="6807"/>
              </a:lnSpc>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1031689" y="-652791"/>
            <a:ext cx="8044162" cy="10115539"/>
          </a:xfrm>
          <a:custGeom>
            <a:avLst/>
            <a:gdLst/>
            <a:ahLst/>
            <a:cxnLst/>
            <a:rect r="r" b="b" t="t" l="l"/>
            <a:pathLst>
              <a:path h="10115539" w="8044162">
                <a:moveTo>
                  <a:pt x="0" y="0"/>
                </a:moveTo>
                <a:lnTo>
                  <a:pt x="8044162" y="0"/>
                </a:lnTo>
                <a:lnTo>
                  <a:pt x="8044162" y="10115539"/>
                </a:lnTo>
                <a:lnTo>
                  <a:pt x="0" y="10115539"/>
                </a:lnTo>
                <a:lnTo>
                  <a:pt x="0" y="0"/>
                </a:lnTo>
                <a:close/>
              </a:path>
            </a:pathLst>
          </a:custGeom>
          <a:blipFill>
            <a:blip r:embed="rId2"/>
            <a:stretch>
              <a:fillRect l="-73130" t="-17935" r="-65612" b="-16305"/>
            </a:stretch>
          </a:blipFill>
        </p:spPr>
      </p:sp>
      <p:sp>
        <p:nvSpPr>
          <p:cNvPr name="TextBox 3" id="3"/>
          <p:cNvSpPr txBox="true"/>
          <p:nvPr/>
        </p:nvSpPr>
        <p:spPr>
          <a:xfrm rot="0">
            <a:off x="1028700" y="1018413"/>
            <a:ext cx="7216378" cy="1353185"/>
          </a:xfrm>
          <a:prstGeom prst="rect">
            <a:avLst/>
          </a:prstGeom>
        </p:spPr>
        <p:txBody>
          <a:bodyPr anchor="t" rtlCol="false" tIns="0" lIns="0" bIns="0" rIns="0">
            <a:spAutoFit/>
          </a:bodyPr>
          <a:lstStyle/>
          <a:p>
            <a:pPr algn="ctr">
              <a:lnSpc>
                <a:spcPts val="9940"/>
              </a:lnSpc>
            </a:pPr>
            <a:r>
              <a:rPr lang="en-US" sz="7100" b="true">
                <a:solidFill>
                  <a:srgbClr val="000000"/>
                </a:solidFill>
                <a:latin typeface="Times New Roman MT Bold"/>
                <a:ea typeface="Times New Roman MT Bold"/>
                <a:cs typeface="Times New Roman MT Bold"/>
                <a:sym typeface="Times New Roman MT Bold"/>
              </a:rPr>
              <a:t>Problem Statement</a:t>
            </a:r>
          </a:p>
        </p:txBody>
      </p:sp>
      <p:sp>
        <p:nvSpPr>
          <p:cNvPr name="TextBox 4" id="4"/>
          <p:cNvSpPr txBox="true"/>
          <p:nvPr/>
        </p:nvSpPr>
        <p:spPr>
          <a:xfrm rot="0">
            <a:off x="1028700" y="3018520"/>
            <a:ext cx="14025070" cy="5310888"/>
          </a:xfrm>
          <a:prstGeom prst="rect">
            <a:avLst/>
          </a:prstGeom>
        </p:spPr>
        <p:txBody>
          <a:bodyPr anchor="t" rtlCol="false" tIns="0" lIns="0" bIns="0" rIns="0">
            <a:spAutoFit/>
          </a:bodyPr>
          <a:lstStyle/>
          <a:p>
            <a:pPr algn="l">
              <a:lnSpc>
                <a:spcPts val="6991"/>
              </a:lnSpc>
            </a:pPr>
            <a:r>
              <a:rPr lang="en-US" sz="3799">
                <a:solidFill>
                  <a:srgbClr val="000000"/>
                </a:solidFill>
                <a:latin typeface="Times New Roman MT"/>
                <a:ea typeface="Times New Roman MT"/>
                <a:cs typeface="Times New Roman MT"/>
                <a:sym typeface="Times New Roman MT"/>
              </a:rPr>
              <a:t>People who cannot speak use hand signs to communicate, but most people do not understand sign language. Blind people also cannot see these signs. Because of this, it becomes difficult for us to understand mute individuals language. So, we need a device that can look at a hand sign, understand it, and convert it into text and speech to make communication easier for everyone.</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1031689" y="-652791"/>
            <a:ext cx="8044162" cy="10115539"/>
          </a:xfrm>
          <a:custGeom>
            <a:avLst/>
            <a:gdLst/>
            <a:ahLst/>
            <a:cxnLst/>
            <a:rect r="r" b="b" t="t" l="l"/>
            <a:pathLst>
              <a:path h="10115539" w="8044162">
                <a:moveTo>
                  <a:pt x="0" y="0"/>
                </a:moveTo>
                <a:lnTo>
                  <a:pt x="8044162" y="0"/>
                </a:lnTo>
                <a:lnTo>
                  <a:pt x="8044162" y="10115539"/>
                </a:lnTo>
                <a:lnTo>
                  <a:pt x="0" y="10115539"/>
                </a:lnTo>
                <a:lnTo>
                  <a:pt x="0" y="0"/>
                </a:lnTo>
                <a:close/>
              </a:path>
            </a:pathLst>
          </a:custGeom>
          <a:blipFill>
            <a:blip r:embed="rId2"/>
            <a:stretch>
              <a:fillRect l="-73130" t="-17935" r="-65612" b="-16305"/>
            </a:stretch>
          </a:blipFill>
        </p:spPr>
      </p:sp>
      <p:sp>
        <p:nvSpPr>
          <p:cNvPr name="TextBox 3" id="3"/>
          <p:cNvSpPr txBox="true"/>
          <p:nvPr/>
        </p:nvSpPr>
        <p:spPr>
          <a:xfrm rot="0">
            <a:off x="790400" y="3638346"/>
            <a:ext cx="15362469" cy="4485133"/>
          </a:xfrm>
          <a:prstGeom prst="rect">
            <a:avLst/>
          </a:prstGeom>
        </p:spPr>
        <p:txBody>
          <a:bodyPr anchor="t" rtlCol="false" tIns="0" lIns="0" bIns="0" rIns="0">
            <a:spAutoFit/>
          </a:bodyPr>
          <a:lstStyle/>
          <a:p>
            <a:pPr algn="l">
              <a:lnSpc>
                <a:spcPts val="5903"/>
              </a:lnSpc>
            </a:pPr>
          </a:p>
          <a:p>
            <a:pPr algn="l">
              <a:lnSpc>
                <a:spcPts val="5903"/>
              </a:lnSpc>
            </a:pPr>
            <a:r>
              <a:rPr lang="en-US" sz="3599">
                <a:solidFill>
                  <a:srgbClr val="000000"/>
                </a:solidFill>
                <a:latin typeface="Times New Roman MT"/>
                <a:ea typeface="Times New Roman MT"/>
                <a:cs typeface="Times New Roman MT"/>
                <a:sym typeface="Times New Roman MT"/>
              </a:rPr>
              <a:t>The main goal of this project is to create an application that can understand hand signs shown to a camera and convert them into text and speech so that everyone can communicate with a person who has disability with speaking so that any disabilities can’t stop communication.</a:t>
            </a:r>
          </a:p>
          <a:p>
            <a:pPr algn="l">
              <a:lnSpc>
                <a:spcPts val="5903"/>
              </a:lnSpc>
              <a:spcBef>
                <a:spcPct val="0"/>
              </a:spcBef>
            </a:pPr>
          </a:p>
        </p:txBody>
      </p:sp>
      <p:sp>
        <p:nvSpPr>
          <p:cNvPr name="TextBox 4" id="4"/>
          <p:cNvSpPr txBox="true"/>
          <p:nvPr/>
        </p:nvSpPr>
        <p:spPr>
          <a:xfrm rot="0">
            <a:off x="1179249" y="1784668"/>
            <a:ext cx="2629396" cy="1353185"/>
          </a:xfrm>
          <a:prstGeom prst="rect">
            <a:avLst/>
          </a:prstGeom>
        </p:spPr>
        <p:txBody>
          <a:bodyPr anchor="t" rtlCol="false" tIns="0" lIns="0" bIns="0" rIns="0">
            <a:spAutoFit/>
          </a:bodyPr>
          <a:lstStyle/>
          <a:p>
            <a:pPr algn="ctr">
              <a:lnSpc>
                <a:spcPts val="9940"/>
              </a:lnSpc>
            </a:pPr>
            <a:r>
              <a:rPr lang="en-US" sz="7100" b="true">
                <a:solidFill>
                  <a:srgbClr val="000000"/>
                </a:solidFill>
                <a:latin typeface="Times New Roman MT Bold"/>
                <a:ea typeface="Times New Roman MT Bold"/>
                <a:cs typeface="Times New Roman MT Bold"/>
                <a:sym typeface="Times New Roman MT Bold"/>
              </a:rPr>
              <a:t>GOAL</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1031689" y="-652791"/>
            <a:ext cx="8044162" cy="10115539"/>
          </a:xfrm>
          <a:custGeom>
            <a:avLst/>
            <a:gdLst/>
            <a:ahLst/>
            <a:cxnLst/>
            <a:rect r="r" b="b" t="t" l="l"/>
            <a:pathLst>
              <a:path h="10115539" w="8044162">
                <a:moveTo>
                  <a:pt x="0" y="0"/>
                </a:moveTo>
                <a:lnTo>
                  <a:pt x="8044162" y="0"/>
                </a:lnTo>
                <a:lnTo>
                  <a:pt x="8044162" y="10115539"/>
                </a:lnTo>
                <a:lnTo>
                  <a:pt x="0" y="10115539"/>
                </a:lnTo>
                <a:lnTo>
                  <a:pt x="0" y="0"/>
                </a:lnTo>
                <a:close/>
              </a:path>
            </a:pathLst>
          </a:custGeom>
          <a:blipFill>
            <a:blip r:embed="rId2"/>
            <a:stretch>
              <a:fillRect l="-73130" t="-17935" r="-65612" b="-16305"/>
            </a:stretch>
          </a:blipFill>
        </p:spPr>
      </p:sp>
      <p:sp>
        <p:nvSpPr>
          <p:cNvPr name="TextBox 3" id="3"/>
          <p:cNvSpPr txBox="true"/>
          <p:nvPr/>
        </p:nvSpPr>
        <p:spPr>
          <a:xfrm rot="0">
            <a:off x="457200" y="2417369"/>
            <a:ext cx="14805161" cy="7772908"/>
          </a:xfrm>
          <a:prstGeom prst="rect">
            <a:avLst/>
          </a:prstGeom>
        </p:spPr>
        <p:txBody>
          <a:bodyPr anchor="t" rtlCol="false" tIns="0" lIns="0" bIns="0" rIns="0">
            <a:spAutoFit/>
          </a:bodyPr>
          <a:lstStyle/>
          <a:p>
            <a:pPr algn="l" marL="734059" indent="-367030" lvl="1">
              <a:lnSpc>
                <a:spcPts val="5575"/>
              </a:lnSpc>
              <a:buFont typeface="Arial"/>
              <a:buChar char="•"/>
            </a:pPr>
            <a:r>
              <a:rPr lang="en-US" sz="3399">
                <a:solidFill>
                  <a:srgbClr val="000000"/>
                </a:solidFill>
                <a:latin typeface="Times New Roman MT"/>
                <a:ea typeface="Times New Roman MT"/>
                <a:cs typeface="Times New Roman MT"/>
                <a:sym typeface="Times New Roman MT"/>
              </a:rPr>
              <a:t>To detect hand signs in real time using a camera.</a:t>
            </a:r>
          </a:p>
          <a:p>
            <a:pPr algn="l" marL="734059" indent="-367030" lvl="1">
              <a:lnSpc>
                <a:spcPts val="5575"/>
              </a:lnSpc>
              <a:buFont typeface="Arial"/>
              <a:buChar char="•"/>
            </a:pPr>
            <a:r>
              <a:rPr lang="en-US" sz="3399">
                <a:solidFill>
                  <a:srgbClr val="000000"/>
                </a:solidFill>
                <a:latin typeface="Times New Roman MT"/>
                <a:ea typeface="Times New Roman MT"/>
                <a:cs typeface="Times New Roman MT"/>
                <a:sym typeface="Times New Roman MT"/>
              </a:rPr>
              <a:t>To convert the detected sign into English text so others can understand the message.</a:t>
            </a:r>
          </a:p>
          <a:p>
            <a:pPr algn="l" marL="734059" indent="-367030" lvl="1">
              <a:lnSpc>
                <a:spcPts val="5575"/>
              </a:lnSpc>
              <a:buFont typeface="Arial"/>
              <a:buChar char="•"/>
            </a:pPr>
            <a:r>
              <a:rPr lang="en-US" sz="3399">
                <a:solidFill>
                  <a:srgbClr val="000000"/>
                </a:solidFill>
                <a:latin typeface="Times New Roman MT"/>
                <a:ea typeface="Times New Roman MT"/>
                <a:cs typeface="Times New Roman MT"/>
                <a:sym typeface="Times New Roman MT"/>
              </a:rPr>
              <a:t> To convert the text into speech using Text-to-Speech so visually impaired users can hear the output.</a:t>
            </a:r>
          </a:p>
          <a:p>
            <a:pPr algn="l" marL="734059" indent="-367030" lvl="1">
              <a:lnSpc>
                <a:spcPts val="5575"/>
              </a:lnSpc>
              <a:buFont typeface="Arial"/>
              <a:buChar char="•"/>
            </a:pPr>
            <a:r>
              <a:rPr lang="en-US" sz="3399">
                <a:solidFill>
                  <a:srgbClr val="000000"/>
                </a:solidFill>
                <a:latin typeface="Times New Roman MT"/>
                <a:ea typeface="Times New Roman MT"/>
                <a:cs typeface="Times New Roman MT"/>
                <a:sym typeface="Times New Roman MT"/>
              </a:rPr>
              <a:t>To reduce communication barriers for mute, deaf, and visually impaired individuals.</a:t>
            </a:r>
          </a:p>
          <a:p>
            <a:pPr algn="l" marL="734059" indent="-367030" lvl="1">
              <a:lnSpc>
                <a:spcPts val="5575"/>
              </a:lnSpc>
              <a:buFont typeface="Arial"/>
              <a:buChar char="•"/>
            </a:pPr>
            <a:r>
              <a:rPr lang="en-US" sz="3399">
                <a:solidFill>
                  <a:srgbClr val="000000"/>
                </a:solidFill>
                <a:latin typeface="Times New Roman MT"/>
                <a:ea typeface="Times New Roman MT"/>
                <a:cs typeface="Times New Roman MT"/>
                <a:sym typeface="Times New Roman MT"/>
              </a:rPr>
              <a:t>To provide a low-cost system using open-source tools.</a:t>
            </a:r>
          </a:p>
          <a:p>
            <a:pPr algn="l" marL="734059" indent="-367030" lvl="1">
              <a:lnSpc>
                <a:spcPts val="5575"/>
              </a:lnSpc>
              <a:buFont typeface="Arial"/>
              <a:buChar char="•"/>
            </a:pPr>
            <a:r>
              <a:rPr lang="en-US" sz="3399">
                <a:solidFill>
                  <a:srgbClr val="000000"/>
                </a:solidFill>
                <a:latin typeface="Times New Roman MT"/>
                <a:ea typeface="Times New Roman MT"/>
                <a:cs typeface="Times New Roman MT"/>
                <a:sym typeface="Times New Roman MT"/>
              </a:rPr>
              <a:t>To make communication faster, easier, and more inclusive using machine learning.</a:t>
            </a:r>
          </a:p>
          <a:p>
            <a:pPr algn="l">
              <a:lnSpc>
                <a:spcPts val="5575"/>
              </a:lnSpc>
              <a:spcBef>
                <a:spcPct val="0"/>
              </a:spcBef>
            </a:pPr>
          </a:p>
        </p:txBody>
      </p:sp>
      <p:sp>
        <p:nvSpPr>
          <p:cNvPr name="TextBox 4" id="4"/>
          <p:cNvSpPr txBox="true"/>
          <p:nvPr/>
        </p:nvSpPr>
        <p:spPr>
          <a:xfrm rot="0">
            <a:off x="1028700" y="752475"/>
            <a:ext cx="3870127" cy="1353185"/>
          </a:xfrm>
          <a:prstGeom prst="rect">
            <a:avLst/>
          </a:prstGeom>
        </p:spPr>
        <p:txBody>
          <a:bodyPr anchor="t" rtlCol="false" tIns="0" lIns="0" bIns="0" rIns="0">
            <a:spAutoFit/>
          </a:bodyPr>
          <a:lstStyle/>
          <a:p>
            <a:pPr algn="ctr">
              <a:lnSpc>
                <a:spcPts val="9940"/>
              </a:lnSpc>
            </a:pPr>
            <a:r>
              <a:rPr lang="en-US" sz="7100" b="true">
                <a:solidFill>
                  <a:srgbClr val="000000"/>
                </a:solidFill>
                <a:latin typeface="Times New Roman MT Bold"/>
                <a:ea typeface="Times New Roman MT Bold"/>
                <a:cs typeface="Times New Roman MT Bold"/>
                <a:sym typeface="Times New Roman MT Bold"/>
              </a:rPr>
              <a:t>Objectives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2022289" y="-662316"/>
            <a:ext cx="8044162" cy="10115539"/>
          </a:xfrm>
          <a:custGeom>
            <a:avLst/>
            <a:gdLst/>
            <a:ahLst/>
            <a:cxnLst/>
            <a:rect r="r" b="b" t="t" l="l"/>
            <a:pathLst>
              <a:path h="10115539" w="8044162">
                <a:moveTo>
                  <a:pt x="0" y="0"/>
                </a:moveTo>
                <a:lnTo>
                  <a:pt x="8044162" y="0"/>
                </a:lnTo>
                <a:lnTo>
                  <a:pt x="8044162" y="10115539"/>
                </a:lnTo>
                <a:lnTo>
                  <a:pt x="0" y="10115539"/>
                </a:lnTo>
                <a:lnTo>
                  <a:pt x="0" y="0"/>
                </a:lnTo>
                <a:close/>
              </a:path>
            </a:pathLst>
          </a:custGeom>
          <a:blipFill>
            <a:blip r:embed="rId2"/>
            <a:stretch>
              <a:fillRect l="-73130" t="-17935" r="-65612" b="-16305"/>
            </a:stretch>
          </a:blipFill>
        </p:spPr>
      </p:sp>
      <p:sp>
        <p:nvSpPr>
          <p:cNvPr name="TextBox 3" id="3"/>
          <p:cNvSpPr txBox="true"/>
          <p:nvPr/>
        </p:nvSpPr>
        <p:spPr>
          <a:xfrm rot="0">
            <a:off x="560735" y="961198"/>
            <a:ext cx="12264569" cy="1261098"/>
          </a:xfrm>
          <a:prstGeom prst="rect">
            <a:avLst/>
          </a:prstGeom>
        </p:spPr>
        <p:txBody>
          <a:bodyPr anchor="t" rtlCol="false" tIns="0" lIns="0" bIns="0" rIns="0">
            <a:spAutoFit/>
          </a:bodyPr>
          <a:lstStyle/>
          <a:p>
            <a:pPr algn="ctr">
              <a:lnSpc>
                <a:spcPts val="9240"/>
              </a:lnSpc>
            </a:pPr>
            <a:r>
              <a:rPr lang="en-US" sz="6600" b="true">
                <a:solidFill>
                  <a:srgbClr val="000000"/>
                </a:solidFill>
                <a:latin typeface="Times New Roman MT Bold"/>
                <a:ea typeface="Times New Roman MT Bold"/>
                <a:cs typeface="Times New Roman MT Bold"/>
                <a:sym typeface="Times New Roman MT Bold"/>
              </a:rPr>
              <a:t>Data Collection and its Description </a:t>
            </a:r>
          </a:p>
        </p:txBody>
      </p:sp>
      <p:sp>
        <p:nvSpPr>
          <p:cNvPr name="TextBox 4" id="4"/>
          <p:cNvSpPr txBox="true"/>
          <p:nvPr/>
        </p:nvSpPr>
        <p:spPr>
          <a:xfrm rot="0">
            <a:off x="221286" y="3123229"/>
            <a:ext cx="18066714" cy="5859780"/>
          </a:xfrm>
          <a:prstGeom prst="rect">
            <a:avLst/>
          </a:prstGeom>
        </p:spPr>
        <p:txBody>
          <a:bodyPr anchor="t" rtlCol="false" tIns="0" lIns="0" bIns="0" rIns="0">
            <a:spAutoFit/>
          </a:bodyPr>
          <a:lstStyle/>
          <a:p>
            <a:pPr algn="l" marL="712468" indent="-356234" lvl="1">
              <a:lnSpc>
                <a:spcPts val="4619"/>
              </a:lnSpc>
              <a:buFont typeface="Arial"/>
              <a:buChar char="•"/>
            </a:pPr>
            <a:r>
              <a:rPr lang="en-US" sz="3299">
                <a:solidFill>
                  <a:srgbClr val="000000"/>
                </a:solidFill>
                <a:latin typeface="Times New Roman MT"/>
                <a:ea typeface="Times New Roman MT"/>
                <a:cs typeface="Times New Roman MT"/>
                <a:sym typeface="Times New Roman MT"/>
              </a:rPr>
              <a:t>Data Collection &amp; Dataset Description</a:t>
            </a:r>
          </a:p>
          <a:p>
            <a:pPr algn="l" marL="712468" indent="-356234" lvl="1">
              <a:lnSpc>
                <a:spcPts val="4619"/>
              </a:lnSpc>
              <a:buFont typeface="Arial"/>
              <a:buChar char="•"/>
            </a:pPr>
            <a:r>
              <a:rPr lang="en-US" sz="3299">
                <a:solidFill>
                  <a:srgbClr val="000000"/>
                </a:solidFill>
                <a:latin typeface="Times New Roman MT"/>
                <a:ea typeface="Times New Roman MT"/>
                <a:cs typeface="Times New Roman MT"/>
                <a:sym typeface="Times New Roman MT"/>
              </a:rPr>
              <a:t>Collected two ASL datasets from Kaggle</a:t>
            </a:r>
          </a:p>
          <a:p>
            <a:pPr algn="l" marL="712468" indent="-356234" lvl="1">
              <a:lnSpc>
                <a:spcPts val="4619"/>
              </a:lnSpc>
              <a:buFont typeface="Arial"/>
              <a:buChar char="•"/>
            </a:pPr>
            <a:r>
              <a:rPr lang="en-US" sz="3299">
                <a:solidFill>
                  <a:srgbClr val="000000"/>
                </a:solidFill>
                <a:latin typeface="Times New Roman MT"/>
                <a:ea typeface="Times New Roman MT"/>
                <a:cs typeface="Times New Roman MT"/>
                <a:sym typeface="Times New Roman MT"/>
              </a:rPr>
              <a:t>3000 real-world images with variations in lighting, backgrounds, angles, and skin tones.</a:t>
            </a:r>
          </a:p>
          <a:p>
            <a:pPr algn="l" marL="712468" indent="-356234" lvl="1">
              <a:lnSpc>
                <a:spcPts val="4619"/>
              </a:lnSpc>
              <a:buFont typeface="Arial"/>
              <a:buChar char="•"/>
            </a:pPr>
            <a:r>
              <a:rPr lang="en-US" sz="3299">
                <a:solidFill>
                  <a:srgbClr val="000000"/>
                </a:solidFill>
                <a:latin typeface="Times New Roman MT"/>
                <a:ea typeface="Times New Roman MT"/>
                <a:cs typeface="Times New Roman MT"/>
                <a:sym typeface="Times New Roman MT"/>
              </a:rPr>
              <a:t>70 clean black-background images with clear gesture boundaries.</a:t>
            </a:r>
          </a:p>
          <a:p>
            <a:pPr algn="l" marL="712468" indent="-356234" lvl="1">
              <a:lnSpc>
                <a:spcPts val="4619"/>
              </a:lnSpc>
              <a:buFont typeface="Arial"/>
              <a:buChar char="•"/>
            </a:pPr>
            <a:r>
              <a:rPr lang="en-US" sz="3299">
                <a:solidFill>
                  <a:srgbClr val="000000"/>
                </a:solidFill>
                <a:latin typeface="Times New Roman MT"/>
                <a:ea typeface="Times New Roman MT"/>
                <a:cs typeface="Times New Roman MT"/>
                <a:sym typeface="Times New Roman MT"/>
              </a:rPr>
              <a:t>Reduced the larger dataset to 1500 diverse images per category by removing duplicates and low-quality samples.</a:t>
            </a:r>
          </a:p>
          <a:p>
            <a:pPr algn="l" marL="712468" indent="-356234" lvl="1">
              <a:lnSpc>
                <a:spcPts val="4619"/>
              </a:lnSpc>
              <a:buFont typeface="Arial"/>
              <a:buChar char="•"/>
            </a:pPr>
            <a:r>
              <a:rPr lang="en-US" sz="3299">
                <a:solidFill>
                  <a:srgbClr val="000000"/>
                </a:solidFill>
                <a:latin typeface="Times New Roman MT"/>
                <a:ea typeface="Times New Roman MT"/>
                <a:cs typeface="Times New Roman MT"/>
                <a:sym typeface="Times New Roman MT"/>
              </a:rPr>
              <a:t>Combined both datasets to form a balanced, diverse, and representative final dataset suitable for real-world ASL recognition.</a:t>
            </a:r>
          </a:p>
          <a:p>
            <a:pPr algn="l" marL="712468" indent="-356234" lvl="1">
              <a:lnSpc>
                <a:spcPts val="4619"/>
              </a:lnSpc>
              <a:buFont typeface="Arial"/>
              <a:buChar char="•"/>
            </a:pPr>
            <a:r>
              <a:rPr lang="en-US" sz="3299">
                <a:solidFill>
                  <a:srgbClr val="000000"/>
                </a:solidFill>
                <a:latin typeface="Times New Roman MT"/>
                <a:ea typeface="Times New Roman MT"/>
                <a:cs typeface="Times New Roman MT"/>
                <a:sym typeface="Times New Roman MT"/>
              </a:rPr>
              <a:t>The collected dataset included ASL hand signs for all letters A–Z, along with Space and Delete gestures, enabling proper word and sentence formation. </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1660339" y="-652791"/>
            <a:ext cx="8044162" cy="10115539"/>
          </a:xfrm>
          <a:custGeom>
            <a:avLst/>
            <a:gdLst/>
            <a:ahLst/>
            <a:cxnLst/>
            <a:rect r="r" b="b" t="t" l="l"/>
            <a:pathLst>
              <a:path h="10115539" w="8044162">
                <a:moveTo>
                  <a:pt x="0" y="0"/>
                </a:moveTo>
                <a:lnTo>
                  <a:pt x="8044162" y="0"/>
                </a:lnTo>
                <a:lnTo>
                  <a:pt x="8044162" y="10115539"/>
                </a:lnTo>
                <a:lnTo>
                  <a:pt x="0" y="10115539"/>
                </a:lnTo>
                <a:lnTo>
                  <a:pt x="0" y="0"/>
                </a:lnTo>
                <a:close/>
              </a:path>
            </a:pathLst>
          </a:custGeom>
          <a:blipFill>
            <a:blip r:embed="rId2"/>
            <a:stretch>
              <a:fillRect l="-73130" t="-17935" r="-65612" b="-16305"/>
            </a:stretch>
          </a:blipFill>
        </p:spPr>
      </p:sp>
      <p:sp>
        <p:nvSpPr>
          <p:cNvPr name="TextBox 3" id="3"/>
          <p:cNvSpPr txBox="true"/>
          <p:nvPr/>
        </p:nvSpPr>
        <p:spPr>
          <a:xfrm rot="0">
            <a:off x="740345" y="1746889"/>
            <a:ext cx="14494978" cy="7924800"/>
          </a:xfrm>
          <a:prstGeom prst="rect">
            <a:avLst/>
          </a:prstGeom>
        </p:spPr>
        <p:txBody>
          <a:bodyPr anchor="t" rtlCol="false" tIns="0" lIns="0" bIns="0" rIns="0">
            <a:spAutoFit/>
          </a:bodyPr>
          <a:lstStyle/>
          <a:p>
            <a:pPr algn="l">
              <a:lnSpc>
                <a:spcPts val="5249"/>
              </a:lnSpc>
            </a:pPr>
          </a:p>
          <a:p>
            <a:pPr algn="l" marL="755647" indent="-377824" lvl="1">
              <a:lnSpc>
                <a:spcPts val="5249"/>
              </a:lnSpc>
              <a:buFont typeface="Arial"/>
              <a:buChar char="•"/>
            </a:pPr>
            <a:r>
              <a:rPr lang="en-US" sz="3499">
                <a:solidFill>
                  <a:srgbClr val="000000"/>
                </a:solidFill>
                <a:latin typeface="Times New Roman MT"/>
                <a:ea typeface="Times New Roman MT"/>
                <a:cs typeface="Times New Roman MT"/>
                <a:sym typeface="Times New Roman MT"/>
              </a:rPr>
              <a:t>Images were passed through Mediapipe, which detects and normalizes hand landmarks.</a:t>
            </a:r>
          </a:p>
          <a:p>
            <a:pPr algn="l" marL="755647" indent="-377824" lvl="1">
              <a:lnSpc>
                <a:spcPts val="5249"/>
              </a:lnSpc>
              <a:buFont typeface="Arial"/>
              <a:buChar char="•"/>
            </a:pPr>
            <a:r>
              <a:rPr lang="en-US" sz="3499">
                <a:solidFill>
                  <a:srgbClr val="000000"/>
                </a:solidFill>
                <a:latin typeface="Times New Roman MT"/>
                <a:ea typeface="Times New Roman MT"/>
                <a:cs typeface="Times New Roman MT"/>
                <a:sym typeface="Times New Roman MT"/>
              </a:rPr>
              <a:t>Ensured only valid frames with clear hand detection were included..</a:t>
            </a:r>
          </a:p>
          <a:p>
            <a:pPr algn="l" marL="755647" indent="-377824" lvl="1">
              <a:lnSpc>
                <a:spcPts val="5249"/>
              </a:lnSpc>
              <a:buFont typeface="Arial"/>
              <a:buChar char="•"/>
            </a:pPr>
            <a:r>
              <a:rPr lang="en-US" sz="3499">
                <a:solidFill>
                  <a:srgbClr val="000000"/>
                </a:solidFill>
                <a:latin typeface="Times New Roman MT"/>
                <a:ea typeface="Times New Roman MT"/>
                <a:cs typeface="Times New Roman MT"/>
                <a:sym typeface="Times New Roman MT"/>
              </a:rPr>
              <a:t>Mediapipe extracted 21 hand landmarks per image.</a:t>
            </a:r>
          </a:p>
          <a:p>
            <a:pPr algn="l" marL="755647" indent="-377824" lvl="1">
              <a:lnSpc>
                <a:spcPts val="5249"/>
              </a:lnSpc>
              <a:buFont typeface="Arial"/>
              <a:buChar char="•"/>
            </a:pPr>
            <a:r>
              <a:rPr lang="en-US" sz="3499">
                <a:solidFill>
                  <a:srgbClr val="000000"/>
                </a:solidFill>
                <a:latin typeface="Times New Roman MT"/>
                <a:ea typeface="Times New Roman MT"/>
                <a:cs typeface="Times New Roman MT"/>
                <a:sym typeface="Times New Roman MT"/>
              </a:rPr>
              <a:t>Each landmark contains x, y, z coordinates.</a:t>
            </a:r>
          </a:p>
          <a:p>
            <a:pPr algn="l" marL="755647" indent="-377824" lvl="1">
              <a:lnSpc>
                <a:spcPts val="5249"/>
              </a:lnSpc>
              <a:buFont typeface="Arial"/>
              <a:buChar char="•"/>
            </a:pPr>
            <a:r>
              <a:rPr lang="en-US" sz="3499">
                <a:solidFill>
                  <a:srgbClr val="000000"/>
                </a:solidFill>
                <a:latin typeface="Times New Roman MT"/>
                <a:ea typeface="Times New Roman MT"/>
                <a:cs typeface="Times New Roman MT"/>
                <a:sym typeface="Times New Roman MT"/>
              </a:rPr>
              <a:t>Total features per image → 63 numerical values.</a:t>
            </a:r>
          </a:p>
          <a:p>
            <a:pPr algn="l" marL="755647" indent="-377824" lvl="1">
              <a:lnSpc>
                <a:spcPts val="5249"/>
              </a:lnSpc>
              <a:buFont typeface="Arial"/>
              <a:buChar char="•"/>
            </a:pPr>
            <a:r>
              <a:rPr lang="en-US" sz="3499">
                <a:solidFill>
                  <a:srgbClr val="000000"/>
                </a:solidFill>
                <a:latin typeface="Times New Roman MT"/>
                <a:ea typeface="Times New Roman MT"/>
                <a:cs typeface="Times New Roman MT"/>
                <a:sym typeface="Times New Roman MT"/>
              </a:rPr>
              <a:t>These features capture hand geometry, finger orientation, and gesture structure.</a:t>
            </a:r>
          </a:p>
          <a:p>
            <a:pPr algn="l" marL="755647" indent="-377824" lvl="1">
              <a:lnSpc>
                <a:spcPts val="5249"/>
              </a:lnSpc>
              <a:buFont typeface="Arial"/>
              <a:buChar char="•"/>
            </a:pPr>
            <a:r>
              <a:rPr lang="en-US" sz="3499">
                <a:solidFill>
                  <a:srgbClr val="000000"/>
                </a:solidFill>
                <a:latin typeface="Times New Roman MT"/>
                <a:ea typeface="Times New Roman MT"/>
                <a:cs typeface="Times New Roman MT"/>
                <a:sym typeface="Times New Roman MT"/>
              </a:rPr>
              <a:t>All extracted features were stored in a CSV file used for training our ML models.</a:t>
            </a:r>
          </a:p>
          <a:p>
            <a:pPr algn="l">
              <a:lnSpc>
                <a:spcPts val="5249"/>
              </a:lnSpc>
            </a:pPr>
          </a:p>
        </p:txBody>
      </p:sp>
      <p:sp>
        <p:nvSpPr>
          <p:cNvPr name="TextBox 4" id="4"/>
          <p:cNvSpPr txBox="true"/>
          <p:nvPr/>
        </p:nvSpPr>
        <p:spPr>
          <a:xfrm rot="0">
            <a:off x="1028700" y="565154"/>
            <a:ext cx="11432371" cy="1353185"/>
          </a:xfrm>
          <a:prstGeom prst="rect">
            <a:avLst/>
          </a:prstGeom>
        </p:spPr>
        <p:txBody>
          <a:bodyPr anchor="t" rtlCol="false" tIns="0" lIns="0" bIns="0" rIns="0">
            <a:spAutoFit/>
          </a:bodyPr>
          <a:lstStyle/>
          <a:p>
            <a:pPr algn="l">
              <a:lnSpc>
                <a:spcPts val="9940"/>
              </a:lnSpc>
            </a:pPr>
            <a:r>
              <a:rPr lang="en-US" sz="7100" b="true">
                <a:solidFill>
                  <a:srgbClr val="000000"/>
                </a:solidFill>
                <a:latin typeface="Times New Roman MT Bold"/>
                <a:ea typeface="Times New Roman MT Bold"/>
                <a:cs typeface="Times New Roman MT Bold"/>
                <a:sym typeface="Times New Roman MT Bold"/>
              </a:rPr>
              <a:t>Feature Extraction</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1031689" y="-652791"/>
            <a:ext cx="8044162" cy="10115539"/>
          </a:xfrm>
          <a:custGeom>
            <a:avLst/>
            <a:gdLst/>
            <a:ahLst/>
            <a:cxnLst/>
            <a:rect r="r" b="b" t="t" l="l"/>
            <a:pathLst>
              <a:path h="10115539" w="8044162">
                <a:moveTo>
                  <a:pt x="0" y="0"/>
                </a:moveTo>
                <a:lnTo>
                  <a:pt x="8044162" y="0"/>
                </a:lnTo>
                <a:lnTo>
                  <a:pt x="8044162" y="10115539"/>
                </a:lnTo>
                <a:lnTo>
                  <a:pt x="0" y="10115539"/>
                </a:lnTo>
                <a:lnTo>
                  <a:pt x="0" y="0"/>
                </a:lnTo>
                <a:close/>
              </a:path>
            </a:pathLst>
          </a:custGeom>
          <a:blipFill>
            <a:blip r:embed="rId2"/>
            <a:stretch>
              <a:fillRect l="-73130" t="-17935" r="-65612" b="-16305"/>
            </a:stretch>
          </a:blipFill>
        </p:spPr>
      </p:sp>
      <p:sp>
        <p:nvSpPr>
          <p:cNvPr name="TextBox 3" id="3"/>
          <p:cNvSpPr txBox="true"/>
          <p:nvPr/>
        </p:nvSpPr>
        <p:spPr>
          <a:xfrm rot="0">
            <a:off x="1167526" y="690548"/>
            <a:ext cx="15952948" cy="1477137"/>
          </a:xfrm>
          <a:prstGeom prst="rect">
            <a:avLst/>
          </a:prstGeom>
        </p:spPr>
        <p:txBody>
          <a:bodyPr anchor="t" rtlCol="false" tIns="0" lIns="0" bIns="0" rIns="0">
            <a:spAutoFit/>
          </a:bodyPr>
          <a:lstStyle/>
          <a:p>
            <a:pPr algn="just">
              <a:lnSpc>
                <a:spcPts val="11289"/>
              </a:lnSpc>
            </a:pPr>
            <a:r>
              <a:rPr lang="en-US" sz="7100" b="true">
                <a:solidFill>
                  <a:srgbClr val="000000"/>
                </a:solidFill>
                <a:latin typeface="Times New Roman MT Bold"/>
                <a:ea typeface="Times New Roman MT Bold"/>
                <a:cs typeface="Times New Roman MT Bold"/>
                <a:sym typeface="Times New Roman MT Bold"/>
              </a:rPr>
              <a:t>Model Training:</a:t>
            </a:r>
          </a:p>
        </p:txBody>
      </p:sp>
      <p:sp>
        <p:nvSpPr>
          <p:cNvPr name="TextBox 4" id="4"/>
          <p:cNvSpPr txBox="true"/>
          <p:nvPr/>
        </p:nvSpPr>
        <p:spPr>
          <a:xfrm rot="0">
            <a:off x="784856" y="1920035"/>
            <a:ext cx="15040452" cy="8033145"/>
          </a:xfrm>
          <a:prstGeom prst="rect">
            <a:avLst/>
          </a:prstGeom>
        </p:spPr>
        <p:txBody>
          <a:bodyPr anchor="t" rtlCol="false" tIns="0" lIns="0" bIns="0" rIns="0">
            <a:spAutoFit/>
          </a:bodyPr>
          <a:lstStyle/>
          <a:p>
            <a:pPr algn="l">
              <a:lnSpc>
                <a:spcPts val="6324"/>
              </a:lnSpc>
            </a:pPr>
          </a:p>
          <a:p>
            <a:pPr algn="l" marL="832631" indent="-416316" lvl="1">
              <a:lnSpc>
                <a:spcPts val="6324"/>
              </a:lnSpc>
              <a:buFont typeface="Arial"/>
              <a:buChar char="•"/>
            </a:pPr>
            <a:r>
              <a:rPr lang="en-US" sz="3856">
                <a:solidFill>
                  <a:srgbClr val="000000"/>
                </a:solidFill>
                <a:latin typeface="Times New Roman MT"/>
                <a:ea typeface="Times New Roman MT"/>
                <a:cs typeface="Times New Roman MT"/>
                <a:sym typeface="Times New Roman MT"/>
              </a:rPr>
              <a:t>Used 63 landmark features extracted from Mediapipe.</a:t>
            </a:r>
          </a:p>
          <a:p>
            <a:pPr algn="l" marL="832631" indent="-416316" lvl="1">
              <a:lnSpc>
                <a:spcPts val="6324"/>
              </a:lnSpc>
              <a:buFont typeface="Arial"/>
              <a:buChar char="•"/>
            </a:pPr>
            <a:r>
              <a:rPr lang="en-US" sz="3856">
                <a:solidFill>
                  <a:srgbClr val="000000"/>
                </a:solidFill>
                <a:latin typeface="Times New Roman MT"/>
                <a:ea typeface="Times New Roman MT"/>
                <a:cs typeface="Times New Roman MT"/>
                <a:sym typeface="Times New Roman MT"/>
              </a:rPr>
              <a:t>Created a structured CSV dataset for training.</a:t>
            </a:r>
          </a:p>
          <a:p>
            <a:pPr algn="l" marL="832631" indent="-416316" lvl="1">
              <a:lnSpc>
                <a:spcPts val="6324"/>
              </a:lnSpc>
              <a:buFont typeface="Arial"/>
              <a:buChar char="•"/>
            </a:pPr>
            <a:r>
              <a:rPr lang="en-US" sz="3856">
                <a:solidFill>
                  <a:srgbClr val="000000"/>
                </a:solidFill>
                <a:latin typeface="Times New Roman MT"/>
                <a:ea typeface="Times New Roman MT"/>
                <a:cs typeface="Times New Roman MT"/>
                <a:sym typeface="Times New Roman MT"/>
              </a:rPr>
              <a:t>Chose Support Vector Machine (SVM) as the classification model.</a:t>
            </a:r>
          </a:p>
          <a:p>
            <a:pPr algn="l" marL="832631" indent="-416316" lvl="1">
              <a:lnSpc>
                <a:spcPts val="6324"/>
              </a:lnSpc>
              <a:buFont typeface="Arial"/>
              <a:buChar char="•"/>
            </a:pPr>
            <a:r>
              <a:rPr lang="en-US" sz="3856">
                <a:solidFill>
                  <a:srgbClr val="000000"/>
                </a:solidFill>
                <a:latin typeface="Times New Roman MT"/>
                <a:ea typeface="Times New Roman MT"/>
                <a:cs typeface="Times New Roman MT"/>
                <a:sym typeface="Times New Roman MT"/>
              </a:rPr>
              <a:t>Trained using the RBF kernel for handling complex gesture patterns.</a:t>
            </a:r>
          </a:p>
          <a:p>
            <a:pPr algn="l" marL="832631" indent="-416316" lvl="1">
              <a:lnSpc>
                <a:spcPts val="6324"/>
              </a:lnSpc>
              <a:buFont typeface="Arial"/>
              <a:buChar char="•"/>
            </a:pPr>
            <a:r>
              <a:rPr lang="en-US" sz="3856">
                <a:solidFill>
                  <a:srgbClr val="000000"/>
                </a:solidFill>
                <a:latin typeface="Times New Roman MT"/>
                <a:ea typeface="Times New Roman MT"/>
                <a:cs typeface="Times New Roman MT"/>
                <a:sym typeface="Times New Roman MT"/>
              </a:rPr>
              <a:t>Tuned key hyperparameters (C and Gamma) for best accuracy.</a:t>
            </a:r>
          </a:p>
          <a:p>
            <a:pPr algn="l" marL="832631" indent="-416316" lvl="1">
              <a:lnSpc>
                <a:spcPts val="6324"/>
              </a:lnSpc>
              <a:buFont typeface="Arial"/>
              <a:buChar char="•"/>
            </a:pPr>
            <a:r>
              <a:rPr lang="en-US" sz="3856">
                <a:solidFill>
                  <a:srgbClr val="000000"/>
                </a:solidFill>
                <a:latin typeface="Times New Roman MT"/>
                <a:ea typeface="Times New Roman MT"/>
                <a:cs typeface="Times New Roman MT"/>
                <a:sym typeface="Times New Roman MT"/>
              </a:rPr>
              <a:t>Enabled probability=True for confidence scores.</a:t>
            </a:r>
          </a:p>
          <a:p>
            <a:pPr algn="l" marL="832631" indent="-416316" lvl="1">
              <a:lnSpc>
                <a:spcPts val="6324"/>
              </a:lnSpc>
              <a:buFont typeface="Arial"/>
              <a:buChar char="•"/>
            </a:pPr>
            <a:r>
              <a:rPr lang="en-US" sz="3856">
                <a:solidFill>
                  <a:srgbClr val="000000"/>
                </a:solidFill>
                <a:latin typeface="Times New Roman MT"/>
                <a:ea typeface="Times New Roman MT"/>
                <a:cs typeface="Times New Roman MT"/>
                <a:sym typeface="Times New Roman MT"/>
              </a:rPr>
              <a:t>Saved the final trained model as svm_mediapipe.pkl.</a:t>
            </a:r>
          </a:p>
          <a:p>
            <a:pPr algn="l" marL="832631" indent="-416316" lvl="1">
              <a:lnSpc>
                <a:spcPts val="6324"/>
              </a:lnSpc>
              <a:buFont typeface="Arial"/>
              <a:buChar char="•"/>
            </a:pPr>
            <a:r>
              <a:rPr lang="en-US" sz="3856">
                <a:solidFill>
                  <a:srgbClr val="000000"/>
                </a:solidFill>
                <a:latin typeface="Times New Roman MT"/>
                <a:ea typeface="Times New Roman MT"/>
                <a:cs typeface="Times New Roman MT"/>
                <a:sym typeface="Times New Roman MT"/>
              </a:rPr>
              <a:t>Model used for real-time webcam detection.</a:t>
            </a:r>
          </a:p>
          <a:p>
            <a:pPr algn="l">
              <a:lnSpc>
                <a:spcPts val="6324"/>
              </a:lnSpc>
              <a:spcBef>
                <a:spcPct val="0"/>
              </a:spcBef>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1050739" y="-652791"/>
            <a:ext cx="8044162" cy="10115539"/>
          </a:xfrm>
          <a:custGeom>
            <a:avLst/>
            <a:gdLst/>
            <a:ahLst/>
            <a:cxnLst/>
            <a:rect r="r" b="b" t="t" l="l"/>
            <a:pathLst>
              <a:path h="10115539" w="8044162">
                <a:moveTo>
                  <a:pt x="0" y="0"/>
                </a:moveTo>
                <a:lnTo>
                  <a:pt x="8044162" y="0"/>
                </a:lnTo>
                <a:lnTo>
                  <a:pt x="8044162" y="10115539"/>
                </a:lnTo>
                <a:lnTo>
                  <a:pt x="0" y="10115539"/>
                </a:lnTo>
                <a:lnTo>
                  <a:pt x="0" y="0"/>
                </a:lnTo>
                <a:close/>
              </a:path>
            </a:pathLst>
          </a:custGeom>
          <a:blipFill>
            <a:blip r:embed="rId2"/>
            <a:stretch>
              <a:fillRect l="-73130" t="-17935" r="-65612" b="-16305"/>
            </a:stretch>
          </a:blipFill>
        </p:spPr>
      </p:sp>
      <p:sp>
        <p:nvSpPr>
          <p:cNvPr name="TextBox 3" id="3"/>
          <p:cNvSpPr txBox="true"/>
          <p:nvPr/>
        </p:nvSpPr>
        <p:spPr>
          <a:xfrm rot="0">
            <a:off x="649353" y="581852"/>
            <a:ext cx="15181003" cy="10102088"/>
          </a:xfrm>
          <a:prstGeom prst="rect">
            <a:avLst/>
          </a:prstGeom>
        </p:spPr>
        <p:txBody>
          <a:bodyPr anchor="t" rtlCol="false" tIns="0" lIns="0" bIns="0" rIns="0">
            <a:spAutoFit/>
          </a:bodyPr>
          <a:lstStyle/>
          <a:p>
            <a:pPr algn="l">
              <a:lnSpc>
                <a:spcPts val="6723"/>
              </a:lnSpc>
            </a:pPr>
            <a:r>
              <a:rPr lang="en-US" sz="4099" b="true">
                <a:solidFill>
                  <a:srgbClr val="000000"/>
                </a:solidFill>
                <a:latin typeface="Times New Roman MT Bold"/>
                <a:ea typeface="Times New Roman MT Bold"/>
                <a:cs typeface="Times New Roman MT Bold"/>
                <a:sym typeface="Times New Roman MT Bold"/>
              </a:rPr>
              <a:t>MODELS TESTED (MODEL SELECTION)</a:t>
            </a:r>
          </a:p>
          <a:p>
            <a:pPr algn="l">
              <a:lnSpc>
                <a:spcPts val="5248"/>
              </a:lnSpc>
            </a:pPr>
            <a:r>
              <a:rPr lang="en-US" sz="3200" b="true">
                <a:solidFill>
                  <a:srgbClr val="000000"/>
                </a:solidFill>
                <a:latin typeface="Times New Roman MT Bold"/>
                <a:ea typeface="Times New Roman MT Bold"/>
                <a:cs typeface="Times New Roman MT Bold"/>
                <a:sym typeface="Times New Roman MT Bold"/>
              </a:rPr>
              <a:t>1. KNN</a:t>
            </a:r>
          </a:p>
          <a:p>
            <a:pPr algn="l" marL="690881" indent="-345440" lvl="1">
              <a:lnSpc>
                <a:spcPts val="5248"/>
              </a:lnSpc>
              <a:buFont typeface="Arial"/>
              <a:buChar char="•"/>
            </a:pPr>
            <a:r>
              <a:rPr lang="en-US" sz="3200">
                <a:solidFill>
                  <a:srgbClr val="000000"/>
                </a:solidFill>
                <a:latin typeface="Times New Roman MT"/>
                <a:ea typeface="Times New Roman MT"/>
                <a:cs typeface="Times New Roman MT"/>
                <a:sym typeface="Times New Roman MT"/>
              </a:rPr>
              <a:t>Simple algorithm based on nearest neighbors.</a:t>
            </a:r>
          </a:p>
          <a:p>
            <a:pPr algn="l" marL="690881" indent="-345440" lvl="1">
              <a:lnSpc>
                <a:spcPts val="5248"/>
              </a:lnSpc>
              <a:buFont typeface="Arial"/>
              <a:buChar char="•"/>
            </a:pPr>
            <a:r>
              <a:rPr lang="en-US" sz="3200">
                <a:solidFill>
                  <a:srgbClr val="000000"/>
                </a:solidFill>
                <a:latin typeface="Times New Roman MT"/>
                <a:ea typeface="Times New Roman MT"/>
                <a:cs typeface="Times New Roman MT"/>
                <a:sym typeface="Times New Roman MT"/>
              </a:rPr>
              <a:t>Slow prediction time for large datasets.</a:t>
            </a:r>
          </a:p>
          <a:p>
            <a:pPr algn="l" marL="690881" indent="-345440" lvl="1">
              <a:lnSpc>
                <a:spcPts val="5248"/>
              </a:lnSpc>
              <a:buFont typeface="Arial"/>
              <a:buChar char="•"/>
            </a:pPr>
            <a:r>
              <a:rPr lang="en-US" sz="3200">
                <a:solidFill>
                  <a:srgbClr val="000000"/>
                </a:solidFill>
                <a:latin typeface="Times New Roman MT"/>
                <a:ea typeface="Times New Roman MT"/>
                <a:cs typeface="Times New Roman MT"/>
                <a:sym typeface="Times New Roman MT"/>
              </a:rPr>
              <a:t>Low accuracy due to 63-dimensional feature space.</a:t>
            </a:r>
          </a:p>
          <a:p>
            <a:pPr algn="l">
              <a:lnSpc>
                <a:spcPts val="5248"/>
              </a:lnSpc>
            </a:pPr>
            <a:r>
              <a:rPr lang="en-US" sz="3200" b="true">
                <a:solidFill>
                  <a:srgbClr val="000000"/>
                </a:solidFill>
                <a:latin typeface="Times New Roman MT Bold"/>
                <a:ea typeface="Times New Roman MT Bold"/>
                <a:cs typeface="Times New Roman MT Bold"/>
                <a:sym typeface="Times New Roman MT Bold"/>
              </a:rPr>
              <a:t>2. Random Forest</a:t>
            </a:r>
          </a:p>
          <a:p>
            <a:pPr algn="l" marL="690881" indent="-345440" lvl="1">
              <a:lnSpc>
                <a:spcPts val="5248"/>
              </a:lnSpc>
              <a:buFont typeface="Arial"/>
              <a:buChar char="•"/>
            </a:pPr>
            <a:r>
              <a:rPr lang="en-US" sz="3200">
                <a:solidFill>
                  <a:srgbClr val="000000"/>
                </a:solidFill>
                <a:latin typeface="Times New Roman MT"/>
                <a:ea typeface="Times New Roman MT"/>
                <a:cs typeface="Times New Roman MT"/>
                <a:sym typeface="Times New Roman MT"/>
              </a:rPr>
              <a:t>Better accuracy compared to KNN.</a:t>
            </a:r>
          </a:p>
          <a:p>
            <a:pPr algn="l" marL="690881" indent="-345440" lvl="1">
              <a:lnSpc>
                <a:spcPts val="5248"/>
              </a:lnSpc>
              <a:buFont typeface="Arial"/>
              <a:buChar char="•"/>
            </a:pPr>
            <a:r>
              <a:rPr lang="en-US" sz="3200">
                <a:solidFill>
                  <a:srgbClr val="000000"/>
                </a:solidFill>
                <a:latin typeface="Times New Roman MT"/>
                <a:ea typeface="Times New Roman MT"/>
                <a:cs typeface="Times New Roman MT"/>
                <a:sym typeface="Times New Roman MT"/>
              </a:rPr>
              <a:t>Showed signs of overfitting on training data.</a:t>
            </a:r>
          </a:p>
          <a:p>
            <a:pPr algn="l" marL="690881" indent="-345440" lvl="1">
              <a:lnSpc>
                <a:spcPts val="5248"/>
              </a:lnSpc>
              <a:buFont typeface="Arial"/>
              <a:buChar char="•"/>
            </a:pPr>
            <a:r>
              <a:rPr lang="en-US" sz="3200">
                <a:solidFill>
                  <a:srgbClr val="000000"/>
                </a:solidFill>
                <a:latin typeface="Times New Roman MT"/>
                <a:ea typeface="Times New Roman MT"/>
                <a:cs typeface="Times New Roman MT"/>
                <a:sym typeface="Times New Roman MT"/>
              </a:rPr>
              <a:t>Inconsistent predictions for visually similar gestures.</a:t>
            </a:r>
          </a:p>
          <a:p>
            <a:pPr algn="l">
              <a:lnSpc>
                <a:spcPts val="5248"/>
              </a:lnSpc>
            </a:pPr>
            <a:r>
              <a:rPr lang="en-US" sz="3200" b="true">
                <a:solidFill>
                  <a:srgbClr val="000000"/>
                </a:solidFill>
                <a:latin typeface="Times New Roman MT Bold"/>
                <a:ea typeface="Times New Roman MT Bold"/>
                <a:cs typeface="Times New Roman MT Bold"/>
                <a:sym typeface="Times New Roman MT Bold"/>
              </a:rPr>
              <a:t>3. SVM (Selected Model)</a:t>
            </a:r>
          </a:p>
          <a:p>
            <a:pPr algn="l" marL="690881" indent="-345440" lvl="1">
              <a:lnSpc>
                <a:spcPts val="5248"/>
              </a:lnSpc>
              <a:buFont typeface="Arial"/>
              <a:buChar char="•"/>
            </a:pPr>
            <a:r>
              <a:rPr lang="en-US" sz="3200">
                <a:solidFill>
                  <a:srgbClr val="000000"/>
                </a:solidFill>
                <a:latin typeface="Times New Roman MT"/>
                <a:ea typeface="Times New Roman MT"/>
                <a:cs typeface="Times New Roman MT"/>
                <a:sym typeface="Times New Roman MT"/>
              </a:rPr>
              <a:t>Best performance among all tested models.</a:t>
            </a:r>
          </a:p>
          <a:p>
            <a:pPr algn="l" marL="690881" indent="-345440" lvl="1">
              <a:lnSpc>
                <a:spcPts val="5248"/>
              </a:lnSpc>
              <a:buFont typeface="Arial"/>
              <a:buChar char="•"/>
            </a:pPr>
            <a:r>
              <a:rPr lang="en-US" sz="3200">
                <a:solidFill>
                  <a:srgbClr val="000000"/>
                </a:solidFill>
                <a:latin typeface="Times New Roman MT"/>
                <a:ea typeface="Times New Roman MT"/>
                <a:cs typeface="Times New Roman MT"/>
                <a:sym typeface="Times New Roman MT"/>
              </a:rPr>
              <a:t>Excellent with numerical, landmark-based datasets.</a:t>
            </a:r>
          </a:p>
          <a:p>
            <a:pPr algn="l" marL="690881" indent="-345440" lvl="1">
              <a:lnSpc>
                <a:spcPts val="5248"/>
              </a:lnSpc>
              <a:buFont typeface="Arial"/>
              <a:buChar char="•"/>
            </a:pPr>
            <a:r>
              <a:rPr lang="en-US" sz="3200">
                <a:solidFill>
                  <a:srgbClr val="000000"/>
                </a:solidFill>
                <a:latin typeface="Times New Roman MT"/>
                <a:ea typeface="Times New Roman MT"/>
                <a:cs typeface="Times New Roman MT"/>
                <a:sym typeface="Times New Roman MT"/>
              </a:rPr>
              <a:t>Strong at separating gestures with small differences.</a:t>
            </a:r>
          </a:p>
          <a:p>
            <a:pPr algn="l" marL="690881" indent="-345440" lvl="1">
              <a:lnSpc>
                <a:spcPts val="5248"/>
              </a:lnSpc>
              <a:buFont typeface="Arial"/>
              <a:buChar char="•"/>
            </a:pPr>
            <a:r>
              <a:rPr lang="en-US" sz="3200">
                <a:solidFill>
                  <a:srgbClr val="000000"/>
                </a:solidFill>
                <a:latin typeface="Times New Roman MT"/>
                <a:ea typeface="Times New Roman MT"/>
                <a:cs typeface="Times New Roman MT"/>
                <a:sym typeface="Times New Roman MT"/>
              </a:rPr>
              <a:t>Fast and stable for real-time webcam detection.</a:t>
            </a:r>
          </a:p>
          <a:p>
            <a:pPr algn="l">
              <a:lnSpc>
                <a:spcPts val="5248"/>
              </a:lnSpc>
              <a:spcBef>
                <a:spcPct val="0"/>
              </a:spcBef>
            </a:pP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2997247" y="-652791"/>
            <a:ext cx="8044162" cy="10115539"/>
          </a:xfrm>
          <a:custGeom>
            <a:avLst/>
            <a:gdLst/>
            <a:ahLst/>
            <a:cxnLst/>
            <a:rect r="r" b="b" t="t" l="l"/>
            <a:pathLst>
              <a:path h="10115539" w="8044162">
                <a:moveTo>
                  <a:pt x="0" y="0"/>
                </a:moveTo>
                <a:lnTo>
                  <a:pt x="8044162" y="0"/>
                </a:lnTo>
                <a:lnTo>
                  <a:pt x="8044162" y="10115539"/>
                </a:lnTo>
                <a:lnTo>
                  <a:pt x="0" y="10115539"/>
                </a:lnTo>
                <a:lnTo>
                  <a:pt x="0" y="0"/>
                </a:lnTo>
                <a:close/>
              </a:path>
            </a:pathLst>
          </a:custGeom>
          <a:blipFill>
            <a:blip r:embed="rId2"/>
            <a:stretch>
              <a:fillRect l="-73130" t="-17935" r="-65612" b="-16305"/>
            </a:stretch>
          </a:blipFill>
        </p:spPr>
      </p:sp>
      <p:sp>
        <p:nvSpPr>
          <p:cNvPr name="TextBox 3" id="3"/>
          <p:cNvSpPr txBox="true"/>
          <p:nvPr/>
        </p:nvSpPr>
        <p:spPr>
          <a:xfrm rot="0">
            <a:off x="206782" y="1878385"/>
            <a:ext cx="15181003" cy="7643623"/>
          </a:xfrm>
          <a:prstGeom prst="rect">
            <a:avLst/>
          </a:prstGeom>
        </p:spPr>
        <p:txBody>
          <a:bodyPr anchor="t" rtlCol="false" tIns="0" lIns="0" bIns="0" rIns="0">
            <a:spAutoFit/>
          </a:bodyPr>
          <a:lstStyle/>
          <a:p>
            <a:pPr algn="l">
              <a:lnSpc>
                <a:spcPts val="7215"/>
              </a:lnSpc>
            </a:pPr>
          </a:p>
          <a:p>
            <a:pPr algn="l" marL="863596" indent="-431798" lvl="1">
              <a:lnSpc>
                <a:spcPts val="6559"/>
              </a:lnSpc>
              <a:buFont typeface="Arial"/>
              <a:buChar char="•"/>
            </a:pPr>
            <a:r>
              <a:rPr lang="en-US" sz="3999">
                <a:solidFill>
                  <a:srgbClr val="000000"/>
                </a:solidFill>
                <a:latin typeface="Times New Roman MT"/>
                <a:ea typeface="Times New Roman MT"/>
                <a:cs typeface="Times New Roman MT"/>
                <a:sym typeface="Times New Roman MT"/>
              </a:rPr>
              <a:t>Delivered the highest accuracy in our experiments.</a:t>
            </a:r>
          </a:p>
          <a:p>
            <a:pPr algn="l" marL="863596" indent="-431798" lvl="1">
              <a:lnSpc>
                <a:spcPts val="6559"/>
              </a:lnSpc>
              <a:buFont typeface="Arial"/>
              <a:buChar char="•"/>
            </a:pPr>
            <a:r>
              <a:rPr lang="en-US" sz="3999">
                <a:solidFill>
                  <a:srgbClr val="000000"/>
                </a:solidFill>
                <a:latin typeface="Times New Roman MT"/>
                <a:ea typeface="Times New Roman MT"/>
                <a:cs typeface="Times New Roman MT"/>
                <a:sym typeface="Times New Roman MT"/>
              </a:rPr>
              <a:t>Performed consistently across all ASL hand signs.</a:t>
            </a:r>
          </a:p>
          <a:p>
            <a:pPr algn="l" marL="863596" indent="-431798" lvl="1">
              <a:lnSpc>
                <a:spcPts val="6559"/>
              </a:lnSpc>
              <a:buFont typeface="Arial"/>
              <a:buChar char="•"/>
            </a:pPr>
            <a:r>
              <a:rPr lang="en-US" sz="3999">
                <a:solidFill>
                  <a:srgbClr val="000000"/>
                </a:solidFill>
                <a:latin typeface="Times New Roman MT"/>
                <a:ea typeface="Times New Roman MT"/>
                <a:cs typeface="Times New Roman MT"/>
                <a:sym typeface="Times New Roman MT"/>
              </a:rPr>
              <a:t>RBF kernel efficiently handled non-linear hand shapes.</a:t>
            </a:r>
          </a:p>
          <a:p>
            <a:pPr algn="l" marL="863596" indent="-431798" lvl="1">
              <a:lnSpc>
                <a:spcPts val="6559"/>
              </a:lnSpc>
              <a:buFont typeface="Arial"/>
              <a:buChar char="•"/>
            </a:pPr>
            <a:r>
              <a:rPr lang="en-US" sz="3999">
                <a:solidFill>
                  <a:srgbClr val="000000"/>
                </a:solidFill>
                <a:latin typeface="Times New Roman MT"/>
                <a:ea typeface="Times New Roman MT"/>
                <a:cs typeface="Times New Roman MT"/>
                <a:sym typeface="Times New Roman MT"/>
              </a:rPr>
              <a:t>Did not overfit, unlike Random Forest.</a:t>
            </a:r>
          </a:p>
          <a:p>
            <a:pPr algn="l" marL="863596" indent="-431798" lvl="1">
              <a:lnSpc>
                <a:spcPts val="6559"/>
              </a:lnSpc>
              <a:buFont typeface="Arial"/>
              <a:buChar char="•"/>
            </a:pPr>
            <a:r>
              <a:rPr lang="en-US" sz="3999">
                <a:solidFill>
                  <a:srgbClr val="000000"/>
                </a:solidFill>
                <a:latin typeface="Times New Roman MT"/>
                <a:ea typeface="Times New Roman MT"/>
                <a:cs typeface="Times New Roman MT"/>
                <a:sym typeface="Times New Roman MT"/>
              </a:rPr>
              <a:t>More stable and faster than KNN for real-time prediction.</a:t>
            </a:r>
          </a:p>
          <a:p>
            <a:pPr algn="l" marL="863596" indent="-431798" lvl="1">
              <a:lnSpc>
                <a:spcPts val="6559"/>
              </a:lnSpc>
              <a:buFont typeface="Arial"/>
              <a:buChar char="•"/>
            </a:pPr>
            <a:r>
              <a:rPr lang="en-US" sz="3999">
                <a:solidFill>
                  <a:srgbClr val="000000"/>
                </a:solidFill>
                <a:latin typeface="Times New Roman MT"/>
                <a:ea typeface="Times New Roman MT"/>
                <a:cs typeface="Times New Roman MT"/>
                <a:sym typeface="Times New Roman MT"/>
              </a:rPr>
              <a:t>Ideal for structured feature vectors (63 points).</a:t>
            </a:r>
          </a:p>
          <a:p>
            <a:pPr algn="l" marL="863596" indent="-431798" lvl="1">
              <a:lnSpc>
                <a:spcPts val="6559"/>
              </a:lnSpc>
              <a:buFont typeface="Arial"/>
              <a:buChar char="•"/>
            </a:pPr>
            <a:r>
              <a:rPr lang="en-US" sz="3999">
                <a:solidFill>
                  <a:srgbClr val="000000"/>
                </a:solidFill>
                <a:latin typeface="Times New Roman MT"/>
                <a:ea typeface="Times New Roman MT"/>
                <a:cs typeface="Times New Roman MT"/>
                <a:sym typeface="Times New Roman MT"/>
              </a:rPr>
              <a:t>Maintained accuracy even when gestures had minor variations.</a:t>
            </a:r>
          </a:p>
          <a:p>
            <a:pPr algn="l">
              <a:lnSpc>
                <a:spcPts val="7051"/>
              </a:lnSpc>
              <a:spcBef>
                <a:spcPct val="0"/>
              </a:spcBef>
            </a:pPr>
          </a:p>
        </p:txBody>
      </p:sp>
      <p:sp>
        <p:nvSpPr>
          <p:cNvPr name="TextBox 4" id="4"/>
          <p:cNvSpPr txBox="true"/>
          <p:nvPr/>
        </p:nvSpPr>
        <p:spPr>
          <a:xfrm rot="0">
            <a:off x="981506" y="777042"/>
            <a:ext cx="16037822" cy="1517777"/>
          </a:xfrm>
          <a:prstGeom prst="rect">
            <a:avLst/>
          </a:prstGeom>
        </p:spPr>
        <p:txBody>
          <a:bodyPr anchor="t" rtlCol="false" tIns="0" lIns="0" bIns="0" rIns="0">
            <a:spAutoFit/>
          </a:bodyPr>
          <a:lstStyle/>
          <a:p>
            <a:pPr algn="l">
              <a:lnSpc>
                <a:spcPts val="11644"/>
              </a:lnSpc>
              <a:spcBef>
                <a:spcPct val="0"/>
              </a:spcBef>
            </a:pPr>
            <a:r>
              <a:rPr lang="en-US" b="true" sz="7100">
                <a:solidFill>
                  <a:srgbClr val="000000"/>
                </a:solidFill>
                <a:latin typeface="Times New Roman MT Bold"/>
                <a:ea typeface="Times New Roman MT Bold"/>
                <a:cs typeface="Times New Roman MT Bold"/>
                <a:sym typeface="Times New Roman MT Bold"/>
              </a:rPr>
              <a:t>Justification For SVM Selection</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1050739" y="-652791"/>
            <a:ext cx="8044162" cy="10115539"/>
          </a:xfrm>
          <a:custGeom>
            <a:avLst/>
            <a:gdLst/>
            <a:ahLst/>
            <a:cxnLst/>
            <a:rect r="r" b="b" t="t" l="l"/>
            <a:pathLst>
              <a:path h="10115539" w="8044162">
                <a:moveTo>
                  <a:pt x="0" y="0"/>
                </a:moveTo>
                <a:lnTo>
                  <a:pt x="8044162" y="0"/>
                </a:lnTo>
                <a:lnTo>
                  <a:pt x="8044162" y="10115539"/>
                </a:lnTo>
                <a:lnTo>
                  <a:pt x="0" y="10115539"/>
                </a:lnTo>
                <a:lnTo>
                  <a:pt x="0" y="0"/>
                </a:lnTo>
                <a:close/>
              </a:path>
            </a:pathLst>
          </a:custGeom>
          <a:blipFill>
            <a:blip r:embed="rId2"/>
            <a:stretch>
              <a:fillRect l="-73130" t="-17935" r="-65612" b="-16305"/>
            </a:stretch>
          </a:blipFill>
        </p:spPr>
      </p:sp>
      <p:sp>
        <p:nvSpPr>
          <p:cNvPr name="TextBox 3" id="3"/>
          <p:cNvSpPr txBox="true"/>
          <p:nvPr/>
        </p:nvSpPr>
        <p:spPr>
          <a:xfrm rot="0">
            <a:off x="1028700" y="590550"/>
            <a:ext cx="12329731" cy="1517777"/>
          </a:xfrm>
          <a:prstGeom prst="rect">
            <a:avLst/>
          </a:prstGeom>
        </p:spPr>
        <p:txBody>
          <a:bodyPr anchor="t" rtlCol="false" tIns="0" lIns="0" bIns="0" rIns="0">
            <a:spAutoFit/>
          </a:bodyPr>
          <a:lstStyle/>
          <a:p>
            <a:pPr algn="l">
              <a:lnSpc>
                <a:spcPts val="11644"/>
              </a:lnSpc>
              <a:spcBef>
                <a:spcPct val="0"/>
              </a:spcBef>
            </a:pPr>
            <a:r>
              <a:rPr lang="en-US" b="true" sz="7100">
                <a:solidFill>
                  <a:srgbClr val="000000"/>
                </a:solidFill>
                <a:latin typeface="Times New Roman MT Bold"/>
                <a:ea typeface="Times New Roman MT Bold"/>
                <a:cs typeface="Times New Roman MT Bold"/>
                <a:sym typeface="Times New Roman MT Bold"/>
              </a:rPr>
              <a:t>Evaluation and Metrics</a:t>
            </a:r>
          </a:p>
        </p:txBody>
      </p:sp>
      <p:sp>
        <p:nvSpPr>
          <p:cNvPr name="TextBox 4" id="4"/>
          <p:cNvSpPr txBox="true"/>
          <p:nvPr/>
        </p:nvSpPr>
        <p:spPr>
          <a:xfrm rot="0">
            <a:off x="1028700" y="2177415"/>
            <a:ext cx="12753027" cy="8464296"/>
          </a:xfrm>
          <a:prstGeom prst="rect">
            <a:avLst/>
          </a:prstGeom>
        </p:spPr>
        <p:txBody>
          <a:bodyPr anchor="t" rtlCol="false" tIns="0" lIns="0" bIns="0" rIns="0">
            <a:spAutoFit/>
          </a:bodyPr>
          <a:lstStyle/>
          <a:p>
            <a:pPr algn="l">
              <a:lnSpc>
                <a:spcPts val="5903"/>
              </a:lnSpc>
            </a:pPr>
            <a:r>
              <a:rPr lang="en-US" sz="3599" b="true">
                <a:solidFill>
                  <a:srgbClr val="000000"/>
                </a:solidFill>
                <a:latin typeface="Times New Roman MT Bold"/>
                <a:ea typeface="Times New Roman MT Bold"/>
                <a:cs typeface="Times New Roman MT Bold"/>
                <a:sym typeface="Times New Roman MT Bold"/>
              </a:rPr>
              <a:t>Model Evaluation</a:t>
            </a:r>
          </a:p>
          <a:p>
            <a:pPr algn="l" marL="647702" indent="-323851" lvl="1">
              <a:lnSpc>
                <a:spcPts val="4920"/>
              </a:lnSpc>
              <a:buFont typeface="Arial"/>
              <a:buChar char="•"/>
            </a:pPr>
            <a:r>
              <a:rPr lang="en-US" sz="3000">
                <a:solidFill>
                  <a:srgbClr val="000000"/>
                </a:solidFill>
                <a:latin typeface="Times New Roman MT"/>
                <a:ea typeface="Times New Roman MT"/>
                <a:cs typeface="Times New Roman MT"/>
                <a:sym typeface="Times New Roman MT"/>
              </a:rPr>
              <a:t>Tested on unseen ASL images to check generalization.</a:t>
            </a:r>
          </a:p>
          <a:p>
            <a:pPr algn="l" marL="647702" indent="-323851" lvl="1">
              <a:lnSpc>
                <a:spcPts val="4920"/>
              </a:lnSpc>
              <a:buFont typeface="Arial"/>
              <a:buChar char="•"/>
            </a:pPr>
            <a:r>
              <a:rPr lang="en-US" sz="3000">
                <a:solidFill>
                  <a:srgbClr val="000000"/>
                </a:solidFill>
                <a:latin typeface="Times New Roman MT"/>
                <a:ea typeface="Times New Roman MT"/>
                <a:cs typeface="Times New Roman MT"/>
                <a:sym typeface="Times New Roman MT"/>
              </a:rPr>
              <a:t>Evaluated with accuracy, confusion matrix, and class-wise performance.</a:t>
            </a:r>
          </a:p>
          <a:p>
            <a:pPr algn="l">
              <a:lnSpc>
                <a:spcPts val="5903"/>
              </a:lnSpc>
            </a:pPr>
            <a:r>
              <a:rPr lang="en-US" sz="3599" b="true">
                <a:solidFill>
                  <a:srgbClr val="000000"/>
                </a:solidFill>
                <a:latin typeface="Times New Roman MT Bold"/>
                <a:ea typeface="Times New Roman MT Bold"/>
                <a:cs typeface="Times New Roman MT Bold"/>
                <a:sym typeface="Times New Roman MT Bold"/>
              </a:rPr>
              <a:t>Key Observations</a:t>
            </a:r>
          </a:p>
          <a:p>
            <a:pPr algn="l" marL="647702" indent="-323851" lvl="1">
              <a:lnSpc>
                <a:spcPts val="4920"/>
              </a:lnSpc>
              <a:buFont typeface="Arial"/>
              <a:buChar char="•"/>
            </a:pPr>
            <a:r>
              <a:rPr lang="en-US" sz="3000">
                <a:solidFill>
                  <a:srgbClr val="000000"/>
                </a:solidFill>
                <a:latin typeface="Times New Roman MT"/>
                <a:ea typeface="Times New Roman MT"/>
                <a:cs typeface="Times New Roman MT"/>
                <a:sym typeface="Times New Roman MT"/>
              </a:rPr>
              <a:t>High overall testing accuracy.</a:t>
            </a:r>
          </a:p>
          <a:p>
            <a:pPr algn="l" marL="647702" indent="-323851" lvl="1">
              <a:lnSpc>
                <a:spcPts val="4920"/>
              </a:lnSpc>
              <a:buFont typeface="Arial"/>
              <a:buChar char="•"/>
            </a:pPr>
            <a:r>
              <a:rPr lang="en-US" sz="3000">
                <a:solidFill>
                  <a:srgbClr val="000000"/>
                </a:solidFill>
                <a:latin typeface="Times New Roman MT"/>
                <a:ea typeface="Times New Roman MT"/>
                <a:cs typeface="Times New Roman MT"/>
                <a:sym typeface="Times New Roman MT"/>
              </a:rPr>
              <a:t>Strong stability in real-time webcam inference.</a:t>
            </a:r>
          </a:p>
          <a:p>
            <a:pPr algn="l" marL="647702" indent="-323851" lvl="1">
              <a:lnSpc>
                <a:spcPts val="4920"/>
              </a:lnSpc>
              <a:buFont typeface="Arial"/>
              <a:buChar char="•"/>
            </a:pPr>
            <a:r>
              <a:rPr lang="en-US" sz="3000">
                <a:solidFill>
                  <a:srgbClr val="000000"/>
                </a:solidFill>
                <a:latin typeface="Times New Roman MT"/>
                <a:ea typeface="Times New Roman MT"/>
                <a:cs typeface="Times New Roman MT"/>
                <a:sym typeface="Times New Roman MT"/>
              </a:rPr>
              <a:t>Misclassifications mainly occurred between M and N (very similar landmarks).</a:t>
            </a:r>
          </a:p>
          <a:p>
            <a:pPr algn="l">
              <a:lnSpc>
                <a:spcPts val="5903"/>
              </a:lnSpc>
            </a:pPr>
            <a:r>
              <a:rPr lang="en-US" sz="3599" b="true">
                <a:solidFill>
                  <a:srgbClr val="000000"/>
                </a:solidFill>
                <a:latin typeface="Times New Roman MT Bold"/>
                <a:ea typeface="Times New Roman MT Bold"/>
                <a:cs typeface="Times New Roman MT Bold"/>
                <a:sym typeface="Times New Roman MT Bold"/>
              </a:rPr>
              <a:t>Performance Metrics Used</a:t>
            </a:r>
          </a:p>
          <a:p>
            <a:pPr algn="l" marL="647702" indent="-323851" lvl="1">
              <a:lnSpc>
                <a:spcPts val="4920"/>
              </a:lnSpc>
              <a:buFont typeface="Arial"/>
              <a:buChar char="•"/>
            </a:pPr>
            <a:r>
              <a:rPr lang="en-US" sz="3000">
                <a:solidFill>
                  <a:srgbClr val="000000"/>
                </a:solidFill>
                <a:latin typeface="Times New Roman MT"/>
                <a:ea typeface="Times New Roman MT"/>
                <a:cs typeface="Times New Roman MT"/>
                <a:sym typeface="Times New Roman MT"/>
              </a:rPr>
              <a:t>Accuracy Score</a:t>
            </a:r>
          </a:p>
          <a:p>
            <a:pPr algn="l" marL="647702" indent="-323851" lvl="1">
              <a:lnSpc>
                <a:spcPts val="4920"/>
              </a:lnSpc>
              <a:buFont typeface="Arial"/>
              <a:buChar char="•"/>
            </a:pPr>
            <a:r>
              <a:rPr lang="en-US" sz="3000">
                <a:solidFill>
                  <a:srgbClr val="000000"/>
                </a:solidFill>
                <a:latin typeface="Times New Roman MT"/>
                <a:ea typeface="Times New Roman MT"/>
                <a:cs typeface="Times New Roman MT"/>
                <a:sym typeface="Times New Roman MT"/>
              </a:rPr>
              <a:t>Confusion Matrix</a:t>
            </a:r>
          </a:p>
          <a:p>
            <a:pPr algn="l" marL="647702" indent="-323851" lvl="1">
              <a:lnSpc>
                <a:spcPts val="4920"/>
              </a:lnSpc>
              <a:buFont typeface="Arial"/>
              <a:buChar char="•"/>
            </a:pPr>
            <a:r>
              <a:rPr lang="en-US" sz="3000">
                <a:solidFill>
                  <a:srgbClr val="000000"/>
                </a:solidFill>
                <a:latin typeface="Times New Roman MT"/>
                <a:ea typeface="Times New Roman MT"/>
                <a:cs typeface="Times New Roman MT"/>
                <a:sym typeface="Times New Roman MT"/>
              </a:rPr>
              <a:t>Real-Time Responsiveness</a:t>
            </a:r>
          </a:p>
          <a:p>
            <a:pPr algn="l">
              <a:lnSpc>
                <a:spcPts val="4920"/>
              </a:lnSpc>
              <a:spcBef>
                <a:spcPct val="0"/>
              </a:spcBef>
            </a:pP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1050739" y="-652791"/>
            <a:ext cx="8044162" cy="10115539"/>
          </a:xfrm>
          <a:custGeom>
            <a:avLst/>
            <a:gdLst/>
            <a:ahLst/>
            <a:cxnLst/>
            <a:rect r="r" b="b" t="t" l="l"/>
            <a:pathLst>
              <a:path h="10115539" w="8044162">
                <a:moveTo>
                  <a:pt x="0" y="0"/>
                </a:moveTo>
                <a:lnTo>
                  <a:pt x="8044162" y="0"/>
                </a:lnTo>
                <a:lnTo>
                  <a:pt x="8044162" y="10115539"/>
                </a:lnTo>
                <a:lnTo>
                  <a:pt x="0" y="10115539"/>
                </a:lnTo>
                <a:lnTo>
                  <a:pt x="0" y="0"/>
                </a:lnTo>
                <a:close/>
              </a:path>
            </a:pathLst>
          </a:custGeom>
          <a:blipFill>
            <a:blip r:embed="rId2"/>
            <a:stretch>
              <a:fillRect l="-73130" t="-17935" r="-65612" b="-16305"/>
            </a:stretch>
          </a:blipFill>
        </p:spPr>
      </p:sp>
      <p:sp>
        <p:nvSpPr>
          <p:cNvPr name="TextBox 3" id="3"/>
          <p:cNvSpPr txBox="true"/>
          <p:nvPr/>
        </p:nvSpPr>
        <p:spPr>
          <a:xfrm rot="0">
            <a:off x="1028700" y="1227479"/>
            <a:ext cx="7208804" cy="1517777"/>
          </a:xfrm>
          <a:prstGeom prst="rect">
            <a:avLst/>
          </a:prstGeom>
        </p:spPr>
        <p:txBody>
          <a:bodyPr anchor="t" rtlCol="false" tIns="0" lIns="0" bIns="0" rIns="0">
            <a:spAutoFit/>
          </a:bodyPr>
          <a:lstStyle/>
          <a:p>
            <a:pPr algn="l">
              <a:lnSpc>
                <a:spcPts val="11644"/>
              </a:lnSpc>
              <a:spcBef>
                <a:spcPct val="0"/>
              </a:spcBef>
            </a:pPr>
            <a:r>
              <a:rPr lang="en-US" b="true" sz="7100">
                <a:solidFill>
                  <a:srgbClr val="000000"/>
                </a:solidFill>
                <a:latin typeface="Times New Roman MT Bold"/>
                <a:ea typeface="Times New Roman MT Bold"/>
                <a:cs typeface="Times New Roman MT Bold"/>
                <a:sym typeface="Times New Roman MT Bold"/>
              </a:rPr>
              <a:t>Results:</a:t>
            </a:r>
          </a:p>
        </p:txBody>
      </p:sp>
      <p:sp>
        <p:nvSpPr>
          <p:cNvPr name="TextBox 4" id="4"/>
          <p:cNvSpPr txBox="true"/>
          <p:nvPr/>
        </p:nvSpPr>
        <p:spPr>
          <a:xfrm rot="0">
            <a:off x="1028700" y="3171738"/>
            <a:ext cx="13087818" cy="5740922"/>
          </a:xfrm>
          <a:prstGeom prst="rect">
            <a:avLst/>
          </a:prstGeom>
        </p:spPr>
        <p:txBody>
          <a:bodyPr anchor="t" rtlCol="false" tIns="0" lIns="0" bIns="0" rIns="0">
            <a:spAutoFit/>
          </a:bodyPr>
          <a:lstStyle/>
          <a:p>
            <a:pPr algn="l" marL="746273" indent="-373137" lvl="1">
              <a:lnSpc>
                <a:spcPts val="5668"/>
              </a:lnSpc>
              <a:buFont typeface="Arial"/>
              <a:buChar char="•"/>
            </a:pPr>
            <a:r>
              <a:rPr lang="en-US" sz="3456">
                <a:solidFill>
                  <a:srgbClr val="000000"/>
                </a:solidFill>
                <a:latin typeface="Times New Roman MT"/>
                <a:ea typeface="Times New Roman MT"/>
                <a:cs typeface="Times New Roman MT"/>
                <a:sym typeface="Times New Roman MT"/>
              </a:rPr>
              <a:t>SVM achieved high accuracy in ASL recognition.</a:t>
            </a:r>
          </a:p>
          <a:p>
            <a:pPr algn="l" marL="746273" indent="-373137" lvl="1">
              <a:lnSpc>
                <a:spcPts val="5668"/>
              </a:lnSpc>
              <a:buFont typeface="Arial"/>
              <a:buChar char="•"/>
            </a:pPr>
            <a:r>
              <a:rPr lang="en-US" sz="3456">
                <a:solidFill>
                  <a:srgbClr val="000000"/>
                </a:solidFill>
                <a:latin typeface="Times New Roman MT"/>
                <a:ea typeface="Times New Roman MT"/>
                <a:cs typeface="Times New Roman MT"/>
                <a:sym typeface="Times New Roman MT"/>
              </a:rPr>
              <a:t>Real-time webcam detection worked smoothly.</a:t>
            </a:r>
          </a:p>
          <a:p>
            <a:pPr algn="l" marL="746273" indent="-373137" lvl="1">
              <a:lnSpc>
                <a:spcPts val="5668"/>
              </a:lnSpc>
              <a:buFont typeface="Arial"/>
              <a:buChar char="•"/>
            </a:pPr>
            <a:r>
              <a:rPr lang="en-US" sz="3456">
                <a:solidFill>
                  <a:srgbClr val="000000"/>
                </a:solidFill>
                <a:latin typeface="Times New Roman MT"/>
                <a:ea typeface="Times New Roman MT"/>
                <a:cs typeface="Times New Roman MT"/>
                <a:sym typeface="Times New Roman MT"/>
              </a:rPr>
              <a:t>System produced correct text &amp; speech output</a:t>
            </a:r>
          </a:p>
          <a:p>
            <a:pPr algn="l" marL="746273" indent="-373137" lvl="1">
              <a:lnSpc>
                <a:spcPts val="5668"/>
              </a:lnSpc>
              <a:buFont typeface="Arial"/>
              <a:buChar char="•"/>
            </a:pPr>
            <a:r>
              <a:rPr lang="en-US" sz="3456">
                <a:solidFill>
                  <a:srgbClr val="000000"/>
                </a:solidFill>
                <a:latin typeface="Times New Roman MT"/>
                <a:ea typeface="Times New Roman MT"/>
                <a:cs typeface="Times New Roman MT"/>
                <a:sym typeface="Times New Roman MT"/>
              </a:rPr>
              <a:t>Mediapipe provided consistent and clean landmark features.</a:t>
            </a:r>
          </a:p>
          <a:p>
            <a:pPr algn="l" marL="746273" indent="-373137" lvl="1">
              <a:lnSpc>
                <a:spcPts val="5668"/>
              </a:lnSpc>
              <a:buFont typeface="Arial"/>
              <a:buChar char="•"/>
            </a:pPr>
            <a:r>
              <a:rPr lang="en-US" sz="3456">
                <a:solidFill>
                  <a:srgbClr val="000000"/>
                </a:solidFill>
                <a:latin typeface="Times New Roman MT"/>
                <a:ea typeface="Times New Roman MT"/>
                <a:cs typeface="Times New Roman MT"/>
                <a:sym typeface="Times New Roman MT"/>
              </a:rPr>
              <a:t>System worked reliably under good lighting conditions.</a:t>
            </a:r>
          </a:p>
          <a:p>
            <a:pPr algn="l" marL="746273" indent="-373137" lvl="1">
              <a:lnSpc>
                <a:spcPts val="5668"/>
              </a:lnSpc>
              <a:buFont typeface="Arial"/>
              <a:buChar char="•"/>
            </a:pPr>
            <a:r>
              <a:rPr lang="en-US" sz="3456">
                <a:solidFill>
                  <a:srgbClr val="000000"/>
                </a:solidFill>
                <a:latin typeface="Times New Roman MT"/>
                <a:ea typeface="Times New Roman MT"/>
                <a:cs typeface="Times New Roman MT"/>
                <a:sym typeface="Times New Roman MT"/>
              </a:rPr>
              <a:t>Predicted signs were shown as text on the interface.</a:t>
            </a:r>
          </a:p>
          <a:p>
            <a:pPr algn="l" marL="746273" indent="-373137" lvl="1">
              <a:lnSpc>
                <a:spcPts val="5668"/>
              </a:lnSpc>
              <a:buFont typeface="Arial"/>
              <a:buChar char="•"/>
            </a:pPr>
            <a:r>
              <a:rPr lang="en-US" sz="3456">
                <a:solidFill>
                  <a:srgbClr val="000000"/>
                </a:solidFill>
                <a:latin typeface="Times New Roman MT"/>
                <a:ea typeface="Times New Roman MT"/>
                <a:cs typeface="Times New Roman MT"/>
                <a:sym typeface="Times New Roman MT"/>
              </a:rPr>
              <a:t>Text-to-Speech (TTS) produced clear and correct audio output.</a:t>
            </a:r>
          </a:p>
          <a:p>
            <a:pPr algn="l">
              <a:lnSpc>
                <a:spcPts val="5668"/>
              </a:lnSpc>
              <a:spcBef>
                <a:spcPct val="0"/>
              </a:spcBef>
            </a:pP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1050739" y="-652791"/>
            <a:ext cx="8044162" cy="10115539"/>
          </a:xfrm>
          <a:custGeom>
            <a:avLst/>
            <a:gdLst/>
            <a:ahLst/>
            <a:cxnLst/>
            <a:rect r="r" b="b" t="t" l="l"/>
            <a:pathLst>
              <a:path h="10115539" w="8044162">
                <a:moveTo>
                  <a:pt x="0" y="0"/>
                </a:moveTo>
                <a:lnTo>
                  <a:pt x="8044162" y="0"/>
                </a:lnTo>
                <a:lnTo>
                  <a:pt x="8044162" y="10115539"/>
                </a:lnTo>
                <a:lnTo>
                  <a:pt x="0" y="10115539"/>
                </a:lnTo>
                <a:lnTo>
                  <a:pt x="0" y="0"/>
                </a:lnTo>
                <a:close/>
              </a:path>
            </a:pathLst>
          </a:custGeom>
          <a:blipFill>
            <a:blip r:embed="rId2"/>
            <a:stretch>
              <a:fillRect l="-73130" t="-17935" r="-65612" b="-16305"/>
            </a:stretch>
          </a:blipFill>
        </p:spPr>
      </p:sp>
      <p:sp>
        <p:nvSpPr>
          <p:cNvPr name="TextBox 3" id="3"/>
          <p:cNvSpPr txBox="true"/>
          <p:nvPr/>
        </p:nvSpPr>
        <p:spPr>
          <a:xfrm rot="0">
            <a:off x="1028700" y="1033121"/>
            <a:ext cx="9549848" cy="1517777"/>
          </a:xfrm>
          <a:prstGeom prst="rect">
            <a:avLst/>
          </a:prstGeom>
        </p:spPr>
        <p:txBody>
          <a:bodyPr anchor="t" rtlCol="false" tIns="0" lIns="0" bIns="0" rIns="0">
            <a:spAutoFit/>
          </a:bodyPr>
          <a:lstStyle/>
          <a:p>
            <a:pPr algn="l">
              <a:lnSpc>
                <a:spcPts val="11644"/>
              </a:lnSpc>
              <a:spcBef>
                <a:spcPct val="0"/>
              </a:spcBef>
            </a:pPr>
            <a:r>
              <a:rPr lang="en-US" b="true" sz="7100">
                <a:solidFill>
                  <a:srgbClr val="000000"/>
                </a:solidFill>
                <a:latin typeface="Times New Roman MT Bold"/>
                <a:ea typeface="Times New Roman MT Bold"/>
                <a:cs typeface="Times New Roman MT Bold"/>
                <a:sym typeface="Times New Roman MT Bold"/>
              </a:rPr>
              <a:t>Future Enchancements</a:t>
            </a:r>
          </a:p>
        </p:txBody>
      </p:sp>
      <p:sp>
        <p:nvSpPr>
          <p:cNvPr name="TextBox 4" id="4"/>
          <p:cNvSpPr txBox="true"/>
          <p:nvPr/>
        </p:nvSpPr>
        <p:spPr>
          <a:xfrm rot="0">
            <a:off x="526928" y="2700596"/>
            <a:ext cx="15451372" cy="6279910"/>
          </a:xfrm>
          <a:prstGeom prst="rect">
            <a:avLst/>
          </a:prstGeom>
        </p:spPr>
        <p:txBody>
          <a:bodyPr anchor="t" rtlCol="false" tIns="0" lIns="0" bIns="0" rIns="0">
            <a:spAutoFit/>
          </a:bodyPr>
          <a:lstStyle/>
          <a:p>
            <a:pPr algn="l" marL="724684" indent="-362342" lvl="1">
              <a:lnSpc>
                <a:spcPts val="5504"/>
              </a:lnSpc>
              <a:buFont typeface="Arial"/>
              <a:buChar char="•"/>
            </a:pPr>
            <a:r>
              <a:rPr lang="en-US" sz="3356">
                <a:solidFill>
                  <a:srgbClr val="000000"/>
                </a:solidFill>
                <a:latin typeface="Times New Roman MT"/>
                <a:ea typeface="Times New Roman MT"/>
                <a:cs typeface="Times New Roman MT"/>
                <a:sym typeface="Times New Roman MT"/>
              </a:rPr>
              <a:t>Add support for two-hand ASL gestures.</a:t>
            </a:r>
          </a:p>
          <a:p>
            <a:pPr algn="l" marL="724684" indent="-362342" lvl="1">
              <a:lnSpc>
                <a:spcPts val="5504"/>
              </a:lnSpc>
              <a:buFont typeface="Arial"/>
              <a:buChar char="•"/>
            </a:pPr>
            <a:r>
              <a:rPr lang="en-US" sz="3356">
                <a:solidFill>
                  <a:srgbClr val="000000"/>
                </a:solidFill>
                <a:latin typeface="Times New Roman MT"/>
                <a:ea typeface="Times New Roman MT"/>
                <a:cs typeface="Times New Roman MT"/>
                <a:sym typeface="Times New Roman MT"/>
              </a:rPr>
              <a:t>Improve robustness: handle low light, cluttered background, and varied camera angles.</a:t>
            </a:r>
          </a:p>
          <a:p>
            <a:pPr algn="l" marL="724684" indent="-362342" lvl="1">
              <a:lnSpc>
                <a:spcPts val="5504"/>
              </a:lnSpc>
              <a:buFont typeface="Arial"/>
              <a:buChar char="•"/>
            </a:pPr>
            <a:r>
              <a:rPr lang="en-US" sz="3356">
                <a:solidFill>
                  <a:srgbClr val="000000"/>
                </a:solidFill>
                <a:latin typeface="Times New Roman MT"/>
                <a:ea typeface="Times New Roman MT"/>
                <a:cs typeface="Times New Roman MT"/>
                <a:sym typeface="Times New Roman MT"/>
              </a:rPr>
              <a:t>Improve real-time speed &amp; stability.</a:t>
            </a:r>
          </a:p>
          <a:p>
            <a:pPr algn="l" marL="724684" indent="-362342" lvl="1">
              <a:lnSpc>
                <a:spcPts val="5504"/>
              </a:lnSpc>
              <a:buFont typeface="Arial"/>
              <a:buChar char="•"/>
            </a:pPr>
            <a:r>
              <a:rPr lang="en-US" sz="3356">
                <a:solidFill>
                  <a:srgbClr val="000000"/>
                </a:solidFill>
                <a:latin typeface="Times New Roman MT"/>
                <a:ea typeface="Times New Roman MT"/>
                <a:cs typeface="Times New Roman MT"/>
                <a:sym typeface="Times New Roman MT"/>
              </a:rPr>
              <a:t>Build a mobile app (Android/iOS) for easier daily use.</a:t>
            </a:r>
          </a:p>
          <a:p>
            <a:pPr algn="l" marL="724684" indent="-362342" lvl="1">
              <a:lnSpc>
                <a:spcPts val="5504"/>
              </a:lnSpc>
              <a:buFont typeface="Arial"/>
              <a:buChar char="•"/>
            </a:pPr>
            <a:r>
              <a:rPr lang="en-US" sz="3356">
                <a:solidFill>
                  <a:srgbClr val="000000"/>
                </a:solidFill>
                <a:latin typeface="Times New Roman MT"/>
                <a:ea typeface="Times New Roman MT"/>
                <a:cs typeface="Times New Roman MT"/>
                <a:sym typeface="Times New Roman MT"/>
              </a:rPr>
              <a:t>Provide multilingual TTS (Kannada, Hindi, English, etc.).</a:t>
            </a:r>
          </a:p>
          <a:p>
            <a:pPr algn="l" marL="724684" indent="-362342" lvl="1">
              <a:lnSpc>
                <a:spcPts val="5504"/>
              </a:lnSpc>
              <a:buFont typeface="Arial"/>
              <a:buChar char="•"/>
            </a:pPr>
            <a:r>
              <a:rPr lang="en-US" sz="3356">
                <a:solidFill>
                  <a:srgbClr val="000000"/>
                </a:solidFill>
                <a:latin typeface="Times New Roman MT"/>
                <a:ea typeface="Times New Roman MT"/>
                <a:cs typeface="Times New Roman MT"/>
                <a:sym typeface="Times New Roman MT"/>
              </a:rPr>
              <a:t>Train on a larger, more diverse dataset (different skin tones, hand sizes, lighting).</a:t>
            </a:r>
          </a:p>
          <a:p>
            <a:pPr algn="l" marL="724684" indent="-362342" lvl="1">
              <a:lnSpc>
                <a:spcPts val="5504"/>
              </a:lnSpc>
              <a:buFont typeface="Arial"/>
              <a:buChar char="•"/>
            </a:pPr>
            <a:r>
              <a:rPr lang="en-US" sz="3356">
                <a:solidFill>
                  <a:srgbClr val="000000"/>
                </a:solidFill>
                <a:latin typeface="Times New Roman MT"/>
                <a:ea typeface="Times New Roman MT"/>
                <a:cs typeface="Times New Roman MT"/>
                <a:sym typeface="Times New Roman MT"/>
              </a:rPr>
              <a:t>Edge deployment &amp; optimization for small devices</a:t>
            </a:r>
          </a:p>
          <a:p>
            <a:pPr algn="l">
              <a:lnSpc>
                <a:spcPts val="5504"/>
              </a:lnSpc>
              <a:spcBef>
                <a:spcPct val="0"/>
              </a:spcBef>
            </a:pP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2425075" y="-1221811"/>
            <a:ext cx="8044162" cy="10115539"/>
          </a:xfrm>
          <a:custGeom>
            <a:avLst/>
            <a:gdLst/>
            <a:ahLst/>
            <a:cxnLst/>
            <a:rect r="r" b="b" t="t" l="l"/>
            <a:pathLst>
              <a:path h="10115539" w="8044162">
                <a:moveTo>
                  <a:pt x="0" y="0"/>
                </a:moveTo>
                <a:lnTo>
                  <a:pt x="8044162" y="0"/>
                </a:lnTo>
                <a:lnTo>
                  <a:pt x="8044162" y="10115539"/>
                </a:lnTo>
                <a:lnTo>
                  <a:pt x="0" y="10115539"/>
                </a:lnTo>
                <a:lnTo>
                  <a:pt x="0" y="0"/>
                </a:lnTo>
                <a:close/>
              </a:path>
            </a:pathLst>
          </a:custGeom>
          <a:blipFill>
            <a:blip r:embed="rId2"/>
            <a:stretch>
              <a:fillRect l="-73130" t="-17935" r="-65612" b="-16305"/>
            </a:stretch>
          </a:blipFill>
        </p:spPr>
      </p:sp>
      <p:sp>
        <p:nvSpPr>
          <p:cNvPr name="TextBox 3" id="3"/>
          <p:cNvSpPr txBox="true"/>
          <p:nvPr/>
        </p:nvSpPr>
        <p:spPr>
          <a:xfrm rot="0">
            <a:off x="1028700" y="590550"/>
            <a:ext cx="7208804" cy="1517777"/>
          </a:xfrm>
          <a:prstGeom prst="rect">
            <a:avLst/>
          </a:prstGeom>
        </p:spPr>
        <p:txBody>
          <a:bodyPr anchor="t" rtlCol="false" tIns="0" lIns="0" bIns="0" rIns="0">
            <a:spAutoFit/>
          </a:bodyPr>
          <a:lstStyle/>
          <a:p>
            <a:pPr algn="l">
              <a:lnSpc>
                <a:spcPts val="11644"/>
              </a:lnSpc>
              <a:spcBef>
                <a:spcPct val="0"/>
              </a:spcBef>
            </a:pPr>
            <a:r>
              <a:rPr lang="en-US" b="true" sz="7100">
                <a:solidFill>
                  <a:srgbClr val="000000"/>
                </a:solidFill>
                <a:latin typeface="Times New Roman MT Bold"/>
                <a:ea typeface="Times New Roman MT Bold"/>
                <a:cs typeface="Times New Roman MT Bold"/>
                <a:sym typeface="Times New Roman MT Bold"/>
              </a:rPr>
              <a:t>Conclusion</a:t>
            </a:r>
          </a:p>
        </p:txBody>
      </p:sp>
      <p:sp>
        <p:nvSpPr>
          <p:cNvPr name="TextBox 4" id="4"/>
          <p:cNvSpPr txBox="true"/>
          <p:nvPr/>
        </p:nvSpPr>
        <p:spPr>
          <a:xfrm rot="0">
            <a:off x="586129" y="2400300"/>
            <a:ext cx="15551357" cy="7266306"/>
          </a:xfrm>
          <a:prstGeom prst="rect">
            <a:avLst/>
          </a:prstGeom>
        </p:spPr>
        <p:txBody>
          <a:bodyPr anchor="t" rtlCol="false" tIns="0" lIns="0" bIns="0" rIns="0">
            <a:spAutoFit/>
          </a:bodyPr>
          <a:lstStyle/>
          <a:p>
            <a:pPr algn="l" marL="690879" indent="-345439" lvl="1">
              <a:lnSpc>
                <a:spcPts val="6399"/>
              </a:lnSpc>
              <a:buFont typeface="Arial"/>
              <a:buChar char="•"/>
            </a:pPr>
            <a:r>
              <a:rPr lang="en-US" sz="3199">
                <a:solidFill>
                  <a:srgbClr val="000000"/>
                </a:solidFill>
                <a:latin typeface="Times New Roman MT"/>
                <a:ea typeface="Times New Roman MT"/>
                <a:cs typeface="Times New Roman MT"/>
                <a:sym typeface="Times New Roman MT"/>
              </a:rPr>
              <a:t>Successfully built a real-time webcam-based ASL sign detection interface.</a:t>
            </a:r>
          </a:p>
          <a:p>
            <a:pPr algn="l" marL="690879" indent="-345439" lvl="1">
              <a:lnSpc>
                <a:spcPts val="6399"/>
              </a:lnSpc>
              <a:buFont typeface="Arial"/>
              <a:buChar char="•"/>
            </a:pPr>
            <a:r>
              <a:rPr lang="en-US" sz="3199">
                <a:solidFill>
                  <a:srgbClr val="000000"/>
                </a:solidFill>
                <a:latin typeface="Times New Roman MT"/>
                <a:ea typeface="Times New Roman MT"/>
                <a:cs typeface="Times New Roman MT"/>
                <a:sym typeface="Times New Roman MT"/>
              </a:rPr>
              <a:t>Used Mediapipe landmarks and SVM for accurate and stable recognition.</a:t>
            </a:r>
          </a:p>
          <a:p>
            <a:pPr algn="l" marL="690879" indent="-345439" lvl="1">
              <a:lnSpc>
                <a:spcPts val="6399"/>
              </a:lnSpc>
              <a:buFont typeface="Arial"/>
              <a:buChar char="•"/>
            </a:pPr>
            <a:r>
              <a:rPr lang="en-US" sz="3199">
                <a:solidFill>
                  <a:srgbClr val="000000"/>
                </a:solidFill>
                <a:latin typeface="Times New Roman MT"/>
                <a:ea typeface="Times New Roman MT"/>
                <a:cs typeface="Times New Roman MT"/>
                <a:sym typeface="Times New Roman MT"/>
              </a:rPr>
              <a:t>System converts detected signs into text and speech for accessibility.</a:t>
            </a:r>
          </a:p>
          <a:p>
            <a:pPr algn="l" marL="690879" indent="-345439" lvl="1">
              <a:lnSpc>
                <a:spcPts val="6399"/>
              </a:lnSpc>
              <a:buFont typeface="Arial"/>
              <a:buChar char="•"/>
            </a:pPr>
            <a:r>
              <a:rPr lang="en-US" sz="3199">
                <a:solidFill>
                  <a:srgbClr val="000000"/>
                </a:solidFill>
                <a:latin typeface="Times New Roman MT"/>
                <a:ea typeface="Times New Roman MT"/>
                <a:cs typeface="Times New Roman MT"/>
                <a:sym typeface="Times New Roman MT"/>
              </a:rPr>
              <a:t>Helps visually impaired users by providing clear audio output.</a:t>
            </a:r>
          </a:p>
          <a:p>
            <a:pPr algn="l" marL="690879" indent="-345439" lvl="1">
              <a:lnSpc>
                <a:spcPts val="6399"/>
              </a:lnSpc>
              <a:buFont typeface="Arial"/>
              <a:buChar char="•"/>
            </a:pPr>
            <a:r>
              <a:rPr lang="en-US" sz="3199">
                <a:solidFill>
                  <a:srgbClr val="000000"/>
                </a:solidFill>
                <a:latin typeface="Times New Roman MT"/>
                <a:ea typeface="Times New Roman MT"/>
                <a:cs typeface="Times New Roman MT"/>
                <a:sym typeface="Times New Roman MT"/>
              </a:rPr>
              <a:t>Works smoothly in real time and is simple, low-cost, and user-friendly.</a:t>
            </a:r>
          </a:p>
          <a:p>
            <a:pPr algn="l" marL="690879" indent="-345439" lvl="1">
              <a:lnSpc>
                <a:spcPts val="6399"/>
              </a:lnSpc>
              <a:buFont typeface="Arial"/>
              <a:buChar char="•"/>
            </a:pPr>
            <a:r>
              <a:rPr lang="en-US" sz="3199">
                <a:solidFill>
                  <a:srgbClr val="000000"/>
                </a:solidFill>
                <a:latin typeface="Times New Roman MT"/>
                <a:ea typeface="Times New Roman MT"/>
                <a:cs typeface="Times New Roman MT"/>
                <a:sym typeface="Times New Roman MT"/>
              </a:rPr>
              <a:t>Provides a strong base for future development into a full ASL translation system.</a:t>
            </a:r>
          </a:p>
          <a:p>
            <a:pPr algn="l" marL="690879" indent="-345439" lvl="1">
              <a:lnSpc>
                <a:spcPts val="6399"/>
              </a:lnSpc>
              <a:buFont typeface="Arial"/>
              <a:buChar char="•"/>
            </a:pPr>
            <a:r>
              <a:rPr lang="en-US" sz="3199">
                <a:solidFill>
                  <a:srgbClr val="000000"/>
                </a:solidFill>
                <a:latin typeface="Times New Roman MT"/>
                <a:ea typeface="Times New Roman MT"/>
                <a:cs typeface="Times New Roman MT"/>
                <a:sym typeface="Times New Roman MT"/>
              </a:rPr>
              <a:t>Overall, the system shows strong potential to reduce communication barriers for hearing, speech, and visually impaired individuals.</a:t>
            </a:r>
          </a:p>
          <a:p>
            <a:pPr algn="l">
              <a:lnSpc>
                <a:spcPts val="6399"/>
              </a:lnSpc>
            </a:pP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5713607" y="120424"/>
            <a:ext cx="6860786" cy="10046151"/>
          </a:xfrm>
          <a:custGeom>
            <a:avLst/>
            <a:gdLst/>
            <a:ahLst/>
            <a:cxnLst/>
            <a:rect r="r" b="b" t="t" l="l"/>
            <a:pathLst>
              <a:path h="10046151" w="6860786">
                <a:moveTo>
                  <a:pt x="0" y="0"/>
                </a:moveTo>
                <a:lnTo>
                  <a:pt x="6860786" y="0"/>
                </a:lnTo>
                <a:lnTo>
                  <a:pt x="6860786" y="10046152"/>
                </a:lnTo>
                <a:lnTo>
                  <a:pt x="0" y="10046152"/>
                </a:lnTo>
                <a:lnTo>
                  <a:pt x="0" y="0"/>
                </a:lnTo>
                <a:close/>
              </a:path>
            </a:pathLst>
          </a:custGeom>
          <a:blipFill>
            <a:blip r:embed="rId2"/>
            <a:stretch>
              <a:fillRect l="0" t="0" r="0" b="0"/>
            </a:stretch>
          </a:blipFill>
        </p:spPr>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1050739" y="-652791"/>
            <a:ext cx="8044162" cy="10115539"/>
          </a:xfrm>
          <a:custGeom>
            <a:avLst/>
            <a:gdLst/>
            <a:ahLst/>
            <a:cxnLst/>
            <a:rect r="r" b="b" t="t" l="l"/>
            <a:pathLst>
              <a:path h="10115539" w="8044162">
                <a:moveTo>
                  <a:pt x="0" y="0"/>
                </a:moveTo>
                <a:lnTo>
                  <a:pt x="8044162" y="0"/>
                </a:lnTo>
                <a:lnTo>
                  <a:pt x="8044162" y="10115539"/>
                </a:lnTo>
                <a:lnTo>
                  <a:pt x="0" y="10115539"/>
                </a:lnTo>
                <a:lnTo>
                  <a:pt x="0" y="0"/>
                </a:lnTo>
                <a:close/>
              </a:path>
            </a:pathLst>
          </a:custGeom>
          <a:blipFill>
            <a:blip r:embed="rId2"/>
            <a:stretch>
              <a:fillRect l="-73130" t="-17935" r="-65612" b="-16305"/>
            </a:stretch>
          </a:blipFill>
        </p:spPr>
      </p:sp>
      <p:sp>
        <p:nvSpPr>
          <p:cNvPr name="TextBox 3" id="3"/>
          <p:cNvSpPr txBox="true"/>
          <p:nvPr/>
        </p:nvSpPr>
        <p:spPr>
          <a:xfrm rot="0">
            <a:off x="5376007" y="3957303"/>
            <a:ext cx="5915263" cy="1540764"/>
          </a:xfrm>
          <a:prstGeom prst="rect">
            <a:avLst/>
          </a:prstGeom>
        </p:spPr>
        <p:txBody>
          <a:bodyPr anchor="t" rtlCol="false" tIns="0" lIns="0" bIns="0" rIns="0">
            <a:spAutoFit/>
          </a:bodyPr>
          <a:lstStyle/>
          <a:p>
            <a:pPr algn="ctr">
              <a:lnSpc>
                <a:spcPts val="11808"/>
              </a:lnSpc>
              <a:spcBef>
                <a:spcPct val="0"/>
              </a:spcBef>
            </a:pPr>
            <a:r>
              <a:rPr lang="en-US" b="true" sz="7200">
                <a:solidFill>
                  <a:srgbClr val="000000"/>
                </a:solidFill>
                <a:latin typeface="Times New Roman MT Bold"/>
                <a:ea typeface="Times New Roman MT Bold"/>
                <a:cs typeface="Times New Roman MT Bold"/>
                <a:sym typeface="Times New Roman MT Bold"/>
              </a:rPr>
              <a:t>THANK YOU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DAG6L5nKHsM</dc:identifier>
  <dcterms:modified xsi:type="dcterms:W3CDTF">2011-08-01T06:04:30Z</dcterms:modified>
  <cp:revision>1</cp:revision>
  <dc:title>ML_FINAL_PROJECT</dc:title>
</cp:coreProperties>
</file>